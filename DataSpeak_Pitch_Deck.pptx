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dat" ContentType="application/x-fontdata"/>
  <Default Extension="bin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media/image2.bin" ContentType="image/jpe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media/image35.bin" ContentType="image/jpeg"/>
  <Override PartName="/ppt/media/image43.bin" ContentType="image/jpeg"/>
  <Override PartName="/ppt/slides/slide4.xml" ContentType="application/vnd.openxmlformats-officedocument.presentationml.slide+xml"/>
  <Override PartName="/ppt/media/image54.bin" ContentType="image/svg+xml"/>
  <Override PartName="/ppt/media/image56.bin" ContentType="image/svg+xml"/>
  <Override PartName="/ppt/media/image58.bin" ContentType="image/svg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94.bin" ContentType="image/svg+xml"/>
  <Override PartName="/ppt/media/image97.bin" ContentType="image/svg+xml"/>
  <Override PartName="/ppt/media/image100.bin" ContentType="image/svg+xml"/>
  <Override PartName="/ppt/media/image103.bin" ContentType="image/svg+xml"/>
  <Override PartName="/ppt/media/image106.bin" ContentType="image/svg+xml"/>
  <Override PartName="/ppt/media/image109.bin" ContentType="image/svg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140.bin" ContentType="image/svg+xml"/>
  <Override PartName="/ppt/media/image143.bin" ContentType="image/svg+xml"/>
  <Override PartName="/ppt/media/image150.bin" ContentType="image/svg+xml"/>
  <Override PartName="/ppt/media/image154.bin" ContentType="image/sv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72" r:id="rId1"/>
  </p:sldMasterIdLst>
  <p:sldIdLst>
    <p:sldId id="301" r:id="rId8"/>
    <p:sldId id="330" r:id="rId32"/>
    <p:sldId id="373" r:id="rId62"/>
    <p:sldId id="436" r:id="rId100"/>
    <p:sldId id="469" r:id="rId131"/>
    <p:sldId id="534" r:id="rId169"/>
    <p:sldId id="574" r:id="rId183"/>
    <p:sldId id="633" r:id="rId233"/>
    <p:sldId id="665" r:id="rId255"/>
    <p:sldId id="724" r:id="rId287"/>
  </p:sldIdLst>
  <p:sldSz cx="18288000" cy="10287000"/>
  <p:notesSz cx="18288000" cy="10287000"/>
  <p:embeddedFontLst>
    <p:embeddedFont>
      <p:font typeface="Poppins SemiBold" pitchFamily="2" charset="77"/>
      <p:regular r:id="rId6"/>
    </p:embeddedFont>
    <p:embeddedFont>
      <p:font typeface="Roboto" pitchFamily="2" charset="77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5" /><Relationship Type="http://schemas.openxmlformats.org/officeDocument/2006/relationships/theme" Target="theme/theme1.xml" Id="rId4" /><Relationship Type="http://schemas.openxmlformats.org/officeDocument/2006/relationships/font" Target="/ppt/fonts/font.dat" Id="rId6" /><Relationship Type="http://schemas.openxmlformats.org/officeDocument/2006/relationships/font" Target="/ppt/fonts/font2.dat" Id="rId7" /><Relationship Type="http://schemas.openxmlformats.org/officeDocument/2006/relationships/slide" Target="/ppt/slides/slide1.xml" Id="rId8" /><Relationship Type="http://schemas.openxmlformats.org/officeDocument/2006/relationships/slide" Target="/ppt/slides/slide2.xml" Id="rId32" /><Relationship Type="http://schemas.openxmlformats.org/officeDocument/2006/relationships/slide" Target="/ppt/slides/slide3.xml" Id="rId62" /><Relationship Type="http://schemas.openxmlformats.org/officeDocument/2006/relationships/slide" Target="/ppt/slides/slide4.xml" Id="rId100" /><Relationship Type="http://schemas.openxmlformats.org/officeDocument/2006/relationships/slide" Target="/ppt/slides/slide5.xml" Id="rId131" /><Relationship Type="http://schemas.openxmlformats.org/officeDocument/2006/relationships/slide" Target="/ppt/slides/slide6.xml" Id="rId169" /><Relationship Type="http://schemas.openxmlformats.org/officeDocument/2006/relationships/slide" Target="/ppt/slides/slide7.xml" Id="rId183" /><Relationship Type="http://schemas.openxmlformats.org/officeDocument/2006/relationships/slide" Target="/ppt/slides/slide8.xml" Id="rId233" /><Relationship Type="http://schemas.openxmlformats.org/officeDocument/2006/relationships/slide" Target="/ppt/slides/slide9.xml" Id="rId255" /><Relationship Type="http://schemas.openxmlformats.org/officeDocument/2006/relationships/slide" Target="/ppt/slides/slide10.xml" Id="rId287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9" /><Relationship Type="http://schemas.openxmlformats.org/officeDocument/2006/relationships/image" Target="/ppt/media/image.bin" Id="rId11" /><Relationship Type="http://schemas.openxmlformats.org/officeDocument/2006/relationships/image" Target="/ppt/media/image2.bin" Id="rId13" /><Relationship Type="http://schemas.openxmlformats.org/officeDocument/2006/relationships/image" Target="/ppt/media/image3.bin" Id="rId15" /><Relationship Type="http://schemas.openxmlformats.org/officeDocument/2006/relationships/image" Target="/ppt/media/image4.bin" Id="rId17" /><Relationship Type="http://schemas.openxmlformats.org/officeDocument/2006/relationships/image" Target="/ppt/media/image5.bin" Id="rId19" /><Relationship Type="http://schemas.openxmlformats.org/officeDocument/2006/relationships/image" Target="/ppt/media/image6.bin" Id="rId21" /><Relationship Type="http://schemas.openxmlformats.org/officeDocument/2006/relationships/image" Target="/ppt/media/image7.bin" Id="rId23" /><Relationship Type="http://schemas.openxmlformats.org/officeDocument/2006/relationships/image" Target="/ppt/media/image8.bin" Id="rId25" /><Relationship Type="http://schemas.openxmlformats.org/officeDocument/2006/relationships/image" Target="/ppt/media/image9.bin" Id="rId27" /><Relationship Type="http://schemas.openxmlformats.org/officeDocument/2006/relationships/image" Target="/ppt/media/image10.bin" Id="rId29" /><Relationship Type="http://schemas.openxmlformats.org/officeDocument/2006/relationships/image" Target="/ppt/media/image11.bin" Id="rId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3" /><Relationship Type="http://schemas.openxmlformats.org/officeDocument/2006/relationships/image" Target="/ppt/media/image12.bin" Id="rId35" /><Relationship Type="http://schemas.openxmlformats.org/officeDocument/2006/relationships/image" Target="/ppt/media/image13.bin" Id="rId37" /><Relationship Type="http://schemas.openxmlformats.org/officeDocument/2006/relationships/image" Target="/ppt/media/image14.bin" Id="rId39" /><Relationship Type="http://schemas.openxmlformats.org/officeDocument/2006/relationships/image" Target="/ppt/media/image15.bin" Id="rId41" /><Relationship Type="http://schemas.openxmlformats.org/officeDocument/2006/relationships/image" Target="/ppt/media/image16.bin" Id="rId43" /><Relationship Type="http://schemas.openxmlformats.org/officeDocument/2006/relationships/image" Target="/ppt/media/image17.bin" Id="rId45" /><Relationship Type="http://schemas.openxmlformats.org/officeDocument/2006/relationships/image" Target="/ppt/media/image18.bin" Id="rId47" /><Relationship Type="http://schemas.openxmlformats.org/officeDocument/2006/relationships/image" Target="/ppt/media/image19.bin" Id="rId49" /><Relationship Type="http://schemas.openxmlformats.org/officeDocument/2006/relationships/image" Target="/ppt/media/image20.bin" Id="rId51" /><Relationship Type="http://schemas.openxmlformats.org/officeDocument/2006/relationships/image" Target="/ppt/media/image21.bin" Id="rId53" /><Relationship Type="http://schemas.openxmlformats.org/officeDocument/2006/relationships/image" Target="/ppt/media/image22.bin" Id="rId55" /><Relationship Type="http://schemas.openxmlformats.org/officeDocument/2006/relationships/image" Target="/ppt/media/image23.bin" Id="rId57" /><Relationship Type="http://schemas.openxmlformats.org/officeDocument/2006/relationships/image" Target="/ppt/media/image24.bin" Id="rId59" /><Relationship Type="http://schemas.openxmlformats.org/officeDocument/2006/relationships/image" Target="/ppt/media/image25.bin" Id="rId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63" /><Relationship Type="http://schemas.openxmlformats.org/officeDocument/2006/relationships/image" Target="/ppt/media/image26.bin" Id="rId65" /><Relationship Type="http://schemas.openxmlformats.org/officeDocument/2006/relationships/image" Target="/ppt/media/image27.bin" Id="rId67" /><Relationship Type="http://schemas.openxmlformats.org/officeDocument/2006/relationships/image" Target="/ppt/media/image28.bin" Id="rId69" /><Relationship Type="http://schemas.openxmlformats.org/officeDocument/2006/relationships/image" Target="/ppt/media/image29.bin" Id="rId71" /><Relationship Type="http://schemas.openxmlformats.org/officeDocument/2006/relationships/image" Target="/ppt/media/image30.bin" Id="rId73" /><Relationship Type="http://schemas.openxmlformats.org/officeDocument/2006/relationships/image" Target="/ppt/media/image31.bin" Id="rId75" /><Relationship Type="http://schemas.openxmlformats.org/officeDocument/2006/relationships/image" Target="/ppt/media/image32.bin" Id="rId77" /><Relationship Type="http://schemas.openxmlformats.org/officeDocument/2006/relationships/image" Target="/ppt/media/image33.bin" Id="rId79" /><Relationship Type="http://schemas.openxmlformats.org/officeDocument/2006/relationships/image" Target="/ppt/media/image34.bin" Id="rId81" /><Relationship Type="http://schemas.openxmlformats.org/officeDocument/2006/relationships/image" Target="/ppt/media/image35.bin" Id="rId83" /><Relationship Type="http://schemas.openxmlformats.org/officeDocument/2006/relationships/image" Target="/ppt/media/image36.bin" Id="rId85" /><Relationship Type="http://schemas.openxmlformats.org/officeDocument/2006/relationships/image" Target="/ppt/media/image37.bin" Id="rId87" /><Relationship Type="http://schemas.openxmlformats.org/officeDocument/2006/relationships/image" Target="/ppt/media/image38.bin" Id="rId89" /><Relationship Type="http://schemas.openxmlformats.org/officeDocument/2006/relationships/image" Target="/ppt/media/image39.bin" Id="rId91" /><Relationship Type="http://schemas.openxmlformats.org/officeDocument/2006/relationships/image" Target="/ppt/media/image40.bin" Id="rId93" /><Relationship Type="http://schemas.openxmlformats.org/officeDocument/2006/relationships/image" Target="/ppt/media/image41.bin" Id="rId95" /><Relationship Type="http://schemas.openxmlformats.org/officeDocument/2006/relationships/image" Target="/ppt/media/image42.bin" Id="rId97" /><Relationship Type="http://schemas.openxmlformats.org/officeDocument/2006/relationships/image" Target="/ppt/media/image43.bin" Id="rId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1" /><Relationship Type="http://schemas.openxmlformats.org/officeDocument/2006/relationships/image" Target="/ppt/media/image44.bin" Id="rId103" /><Relationship Type="http://schemas.openxmlformats.org/officeDocument/2006/relationships/image" Target="/ppt/media/image45.bin" Id="rId105" /><Relationship Type="http://schemas.openxmlformats.org/officeDocument/2006/relationships/image" Target="/ppt/media/image46.bin" Id="rId107" /><Relationship Type="http://schemas.openxmlformats.org/officeDocument/2006/relationships/image" Target="/ppt/media/image47.bin" Id="rId109" /><Relationship Type="http://schemas.openxmlformats.org/officeDocument/2006/relationships/image" Target="/ppt/media/image48.bin" Id="rId111" /><Relationship Type="http://schemas.openxmlformats.org/officeDocument/2006/relationships/image" Target="/ppt/media/image49.bin" Id="rId113" /><Relationship Type="http://schemas.openxmlformats.org/officeDocument/2006/relationships/image" Target="/ppt/media/image50.bin" Id="rId115" /><Relationship Type="http://schemas.openxmlformats.org/officeDocument/2006/relationships/image" Target="/ppt/media/image51.bin" Id="rId117" /><Relationship Type="http://schemas.openxmlformats.org/officeDocument/2006/relationships/image" Target="/ppt/media/image52.bin" Id="rId119" /><Relationship Type="http://schemas.openxmlformats.org/officeDocument/2006/relationships/image" Target="/ppt/media/image53.bin" Id="rId121" /><Relationship Type="http://schemas.openxmlformats.org/officeDocument/2006/relationships/image" Target="/ppt/media/image54.bin" Id="rId123" /><Relationship Type="http://schemas.openxmlformats.org/officeDocument/2006/relationships/image" Target="/ppt/media/image55.bin" Id="rId124" /><Relationship Type="http://schemas.openxmlformats.org/officeDocument/2006/relationships/image" Target="/ppt/media/image56.bin" Id="rId126" /><Relationship Type="http://schemas.openxmlformats.org/officeDocument/2006/relationships/image" Target="/ppt/media/image57.bin" Id="rId127" /><Relationship Type="http://schemas.openxmlformats.org/officeDocument/2006/relationships/image" Target="/ppt/media/image58.bin" Id="rId129" /><Relationship Type="http://schemas.openxmlformats.org/officeDocument/2006/relationships/image" Target="/ppt/media/image59.bin" Id="rId1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32" /><Relationship Type="http://schemas.openxmlformats.org/officeDocument/2006/relationships/image" Target="/ppt/media/image60.bin" Id="rId134" /><Relationship Type="http://schemas.openxmlformats.org/officeDocument/2006/relationships/image" Target="/ppt/media/image61.bin" Id="rId136" /><Relationship Type="http://schemas.openxmlformats.org/officeDocument/2006/relationships/image" Target="/ppt/media/image62.bin" Id="rId138" /><Relationship Type="http://schemas.openxmlformats.org/officeDocument/2006/relationships/image" Target="/ppt/media/image63.bin" Id="rId140" /><Relationship Type="http://schemas.openxmlformats.org/officeDocument/2006/relationships/image" Target="/ppt/media/image64.bin" Id="rId142" /><Relationship Type="http://schemas.openxmlformats.org/officeDocument/2006/relationships/image" Target="/ppt/media/image65.bin" Id="rId144" /><Relationship Type="http://schemas.openxmlformats.org/officeDocument/2006/relationships/image" Target="/ppt/media/image66.bin" Id="rId146" /><Relationship Type="http://schemas.openxmlformats.org/officeDocument/2006/relationships/image" Target="/ppt/media/image67.bin" Id="rId148" /><Relationship Type="http://schemas.openxmlformats.org/officeDocument/2006/relationships/image" Target="/ppt/media/image68.bin" Id="rId150" /><Relationship Type="http://schemas.openxmlformats.org/officeDocument/2006/relationships/image" Target="/ppt/media/image69.bin" Id="rId152" /><Relationship Type="http://schemas.openxmlformats.org/officeDocument/2006/relationships/image" Target="/ppt/media/image70.bin" Id="rId154" /><Relationship Type="http://schemas.openxmlformats.org/officeDocument/2006/relationships/image" Target="/ppt/media/image71.bin" Id="rId156" /><Relationship Type="http://schemas.openxmlformats.org/officeDocument/2006/relationships/image" Target="/ppt/media/image72.bin" Id="rId158" /><Relationship Type="http://schemas.openxmlformats.org/officeDocument/2006/relationships/image" Target="/ppt/media/image73.bin" Id="rId160" /><Relationship Type="http://schemas.openxmlformats.org/officeDocument/2006/relationships/image" Target="/ppt/media/image74.bin" Id="rId162" /><Relationship Type="http://schemas.openxmlformats.org/officeDocument/2006/relationships/image" Target="/ppt/media/image75.bin" Id="rId164" /><Relationship Type="http://schemas.openxmlformats.org/officeDocument/2006/relationships/image" Target="/ppt/media/image76.bin" Id="rId166" /><Relationship Type="http://schemas.openxmlformats.org/officeDocument/2006/relationships/image" Target="/ppt/media/image77.bin" Id="rId1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70" /><Relationship Type="http://schemas.openxmlformats.org/officeDocument/2006/relationships/image" Target="/ppt/media/image78.bin" Id="rId172" /><Relationship Type="http://schemas.openxmlformats.org/officeDocument/2006/relationships/image" Target="/ppt/media/image79.bin" Id="rId174" /><Relationship Type="http://schemas.openxmlformats.org/officeDocument/2006/relationships/image" Target="/ppt/media/image80.bin" Id="rId176" /><Relationship Type="http://schemas.openxmlformats.org/officeDocument/2006/relationships/image" Target="/ppt/media/image81.bin" Id="rId178" /><Relationship Type="http://schemas.openxmlformats.org/officeDocument/2006/relationships/image" Target="/ppt/media/image82.bin" Id="rId180" /><Relationship Type="http://schemas.openxmlformats.org/officeDocument/2006/relationships/image" Target="/ppt/media/image83.bin" Id="rId1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84" /><Relationship Type="http://schemas.openxmlformats.org/officeDocument/2006/relationships/image" Target="/ppt/media/image84.bin" Id="rId186" /><Relationship Type="http://schemas.openxmlformats.org/officeDocument/2006/relationships/image" Target="/ppt/media/image85.bin" Id="rId188" /><Relationship Type="http://schemas.openxmlformats.org/officeDocument/2006/relationships/image" Target="/ppt/media/image86.bin" Id="rId190" /><Relationship Type="http://schemas.openxmlformats.org/officeDocument/2006/relationships/image" Target="/ppt/media/image87.bin" Id="rId192" /><Relationship Type="http://schemas.openxmlformats.org/officeDocument/2006/relationships/image" Target="/ppt/media/image88.bin" Id="rId194" /><Relationship Type="http://schemas.openxmlformats.org/officeDocument/2006/relationships/image" Target="/ppt/media/image89.bin" Id="rId196" /><Relationship Type="http://schemas.openxmlformats.org/officeDocument/2006/relationships/image" Target="/ppt/media/image90.bin" Id="rId198" /><Relationship Type="http://schemas.openxmlformats.org/officeDocument/2006/relationships/image" Target="/ppt/media/image91.bin" Id="rId200" /><Relationship Type="http://schemas.openxmlformats.org/officeDocument/2006/relationships/image" Target="/ppt/media/image92.bin" Id="rId202" /><Relationship Type="http://schemas.openxmlformats.org/officeDocument/2006/relationships/image" Target="/ppt/media/image93.bin" Id="rId204" /><Relationship Type="http://schemas.openxmlformats.org/officeDocument/2006/relationships/image" Target="/ppt/media/image94.bin" Id="rId206" /><Relationship Type="http://schemas.openxmlformats.org/officeDocument/2006/relationships/image" Target="/ppt/media/image95.bin" Id="rId207" /><Relationship Type="http://schemas.openxmlformats.org/officeDocument/2006/relationships/image" Target="/ppt/media/image96.bin" Id="rId209" /><Relationship Type="http://schemas.openxmlformats.org/officeDocument/2006/relationships/image" Target="/ppt/media/image97.bin" Id="rId211" /><Relationship Type="http://schemas.openxmlformats.org/officeDocument/2006/relationships/image" Target="/ppt/media/image98.bin" Id="rId212" /><Relationship Type="http://schemas.openxmlformats.org/officeDocument/2006/relationships/image" Target="/ppt/media/image99.bin" Id="rId214" /><Relationship Type="http://schemas.openxmlformats.org/officeDocument/2006/relationships/image" Target="/ppt/media/image100.bin" Id="rId216" /><Relationship Type="http://schemas.openxmlformats.org/officeDocument/2006/relationships/image" Target="/ppt/media/image101.bin" Id="rId217" /><Relationship Type="http://schemas.openxmlformats.org/officeDocument/2006/relationships/image" Target="/ppt/media/image102.bin" Id="rId219" /><Relationship Type="http://schemas.openxmlformats.org/officeDocument/2006/relationships/image" Target="/ppt/media/image103.bin" Id="rId221" /><Relationship Type="http://schemas.openxmlformats.org/officeDocument/2006/relationships/image" Target="/ppt/media/image104.bin" Id="rId222" /><Relationship Type="http://schemas.openxmlformats.org/officeDocument/2006/relationships/image" Target="/ppt/media/image105.bin" Id="rId224" /><Relationship Type="http://schemas.openxmlformats.org/officeDocument/2006/relationships/image" Target="/ppt/media/image106.bin" Id="rId226" /><Relationship Type="http://schemas.openxmlformats.org/officeDocument/2006/relationships/image" Target="/ppt/media/image107.bin" Id="rId227" /><Relationship Type="http://schemas.openxmlformats.org/officeDocument/2006/relationships/image" Target="/ppt/media/image108.bin" Id="rId229" /><Relationship Type="http://schemas.openxmlformats.org/officeDocument/2006/relationships/image" Target="/ppt/media/image109.bin" Id="rId231" /><Relationship Type="http://schemas.openxmlformats.org/officeDocument/2006/relationships/image" Target="/ppt/media/image110.bin" Id="rId2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34" /><Relationship Type="http://schemas.openxmlformats.org/officeDocument/2006/relationships/image" Target="/ppt/media/image111.bin" Id="rId236" /><Relationship Type="http://schemas.openxmlformats.org/officeDocument/2006/relationships/image" Target="/ppt/media/image112.bin" Id="rId238" /><Relationship Type="http://schemas.openxmlformats.org/officeDocument/2006/relationships/image" Target="/ppt/media/image113.bin" Id="rId240" /><Relationship Type="http://schemas.openxmlformats.org/officeDocument/2006/relationships/image" Target="/ppt/media/image114.bin" Id="rId242" /><Relationship Type="http://schemas.openxmlformats.org/officeDocument/2006/relationships/image" Target="/ppt/media/image115.bin" Id="rId244" /><Relationship Type="http://schemas.openxmlformats.org/officeDocument/2006/relationships/image" Target="/ppt/media/image116.bin" Id="rId246" /><Relationship Type="http://schemas.openxmlformats.org/officeDocument/2006/relationships/image" Target="/ppt/media/image117.bin" Id="rId248" /><Relationship Type="http://schemas.openxmlformats.org/officeDocument/2006/relationships/image" Target="/ppt/media/image118.bin" Id="rId250" /><Relationship Type="http://schemas.openxmlformats.org/officeDocument/2006/relationships/image" Target="/ppt/media/image119.bin" Id="rId252" /><Relationship Type="http://schemas.openxmlformats.org/officeDocument/2006/relationships/image" Target="/ppt/media/image120.bin" Id="rId2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56" /><Relationship Type="http://schemas.openxmlformats.org/officeDocument/2006/relationships/image" Target="/ppt/media/image121.bin" Id="rId258" /><Relationship Type="http://schemas.openxmlformats.org/officeDocument/2006/relationships/image" Target="/ppt/media/image122.bin" Id="rId260" /><Relationship Type="http://schemas.openxmlformats.org/officeDocument/2006/relationships/image" Target="/ppt/media/image123.bin" Id="rId262" /><Relationship Type="http://schemas.openxmlformats.org/officeDocument/2006/relationships/image" Target="/ppt/media/image124.bin" Id="rId264" /><Relationship Type="http://schemas.openxmlformats.org/officeDocument/2006/relationships/image" Target="/ppt/media/image125.bin" Id="rId266" /><Relationship Type="http://schemas.openxmlformats.org/officeDocument/2006/relationships/image" Target="/ppt/media/image126.bin" Id="rId268" /><Relationship Type="http://schemas.openxmlformats.org/officeDocument/2006/relationships/image" Target="/ppt/media/image127.bin" Id="rId270" /><Relationship Type="http://schemas.openxmlformats.org/officeDocument/2006/relationships/image" Target="/ppt/media/image128.bin" Id="rId272" /><Relationship Type="http://schemas.openxmlformats.org/officeDocument/2006/relationships/image" Target="/ppt/media/image129.bin" Id="rId274" /><Relationship Type="http://schemas.openxmlformats.org/officeDocument/2006/relationships/image" Target="/ppt/media/image130.bin" Id="rId276" /><Relationship Type="http://schemas.openxmlformats.org/officeDocument/2006/relationships/image" Target="/ppt/media/image131.bin" Id="rId278" /><Relationship Type="http://schemas.openxmlformats.org/officeDocument/2006/relationships/image" Target="/ppt/media/image132.bin" Id="rId280" /><Relationship Type="http://schemas.openxmlformats.org/officeDocument/2006/relationships/image" Target="/ppt/media/image133.bin" Id="rId282" /><Relationship Type="http://schemas.openxmlformats.org/officeDocument/2006/relationships/image" Target="/ppt/media/image134.bin" Id="rId284" /><Relationship Type="http://schemas.openxmlformats.org/officeDocument/2006/relationships/image" Target="/ppt/media/image135.bin" Id="rId2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88" /><Relationship Type="http://schemas.openxmlformats.org/officeDocument/2006/relationships/image" Target="/ppt/media/image136.bin" Id="rId290" /><Relationship Type="http://schemas.openxmlformats.org/officeDocument/2006/relationships/image" Target="/ppt/media/image137.bin" Id="rId292" /><Relationship Type="http://schemas.openxmlformats.org/officeDocument/2006/relationships/image" Target="/ppt/media/image138.bin" Id="rId294" /><Relationship Type="http://schemas.openxmlformats.org/officeDocument/2006/relationships/image" Target="/ppt/media/image139.bin" Id="rId296" /><Relationship Type="http://schemas.openxmlformats.org/officeDocument/2006/relationships/image" Target="/ppt/media/image140.bin" Id="rId298" /><Relationship Type="http://schemas.openxmlformats.org/officeDocument/2006/relationships/image" Target="/ppt/media/image141.bin" Id="rId299" /><Relationship Type="http://schemas.openxmlformats.org/officeDocument/2006/relationships/image" Target="/ppt/media/image142.bin" Id="rId301" /><Relationship Type="http://schemas.openxmlformats.org/officeDocument/2006/relationships/image" Target="/ppt/media/image143.bin" Id="rId303" /><Relationship Type="http://schemas.openxmlformats.org/officeDocument/2006/relationships/image" Target="/ppt/media/image144.bin" Id="rId304" /><Relationship Type="http://schemas.openxmlformats.org/officeDocument/2006/relationships/image" Target="/ppt/media/image145.bin" Id="rId306" /><Relationship Type="http://schemas.openxmlformats.org/officeDocument/2006/relationships/image" Target="/ppt/media/image146.bin" Id="rId308" /><Relationship Type="http://schemas.openxmlformats.org/officeDocument/2006/relationships/image" Target="/ppt/media/image147.bin" Id="rId310" /><Relationship Type="http://schemas.openxmlformats.org/officeDocument/2006/relationships/image" Target="/ppt/media/image148.bin" Id="rId312" /><Relationship Type="http://schemas.openxmlformats.org/officeDocument/2006/relationships/image" Target="/ppt/media/image149.bin" Id="rId314" /><Relationship Type="http://schemas.openxmlformats.org/officeDocument/2006/relationships/image" Target="/ppt/media/image150.bin" Id="rId316" /><Relationship Type="http://schemas.openxmlformats.org/officeDocument/2006/relationships/image" Target="/ppt/media/image151.bin" Id="rId317" /><Relationship Type="http://schemas.openxmlformats.org/officeDocument/2006/relationships/image" Target="/ppt/media/image152.bin" Id="rId319" /><Relationship Type="http://schemas.openxmlformats.org/officeDocument/2006/relationships/image" Target="/ppt/media/image153.bin" Id="rId321" /><Relationship Type="http://schemas.openxmlformats.org/officeDocument/2006/relationships/image" Target="/ppt/media/image154.bin" Id="rId323" /><Relationship Type="http://schemas.openxmlformats.org/officeDocument/2006/relationships/image" Target="/ppt/media/image155.bin" Id="rId324" /><Relationship Type="http://schemas.openxmlformats.org/officeDocument/2006/relationships/image" Target="/ppt/media/image156.bin" Id="rId326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3">
            <a:alphaModFix amt="100000"/>
          </a:blip>
          <a:stretch/>
        </p:blipFill>
        <p:spPr>
          <a:xfrm>
            <a:off x="10826591" y="0"/>
            <a:ext cx="7458075" cy="10287000"/>
          </a:xfrm>
          <a:prstGeom prst="rect">
            <a:avLst/>
          </a:prstGeom>
        </p:spPr>
      </p:pic>
      <p:pic>
        <p:nvPicPr>
          <p:cNvPr id="30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alphaModFix amt="100000"/>
          </a:blip>
          <a:stretch/>
        </p:blipFill>
        <p:spPr>
          <a:xfrm>
            <a:off x="10826591" y="1828800"/>
            <a:ext cx="1828800" cy="914400"/>
          </a:xfrm>
          <a:prstGeom prst="rect">
            <a:avLst/>
          </a:prstGeom>
        </p:spPr>
      </p:pic>
      <p:pic>
        <p:nvPicPr>
          <p:cNvPr id="30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alphaModFix amt="100000"/>
          </a:blip>
          <a:stretch/>
        </p:blipFill>
        <p:spPr>
          <a:xfrm>
            <a:off x="9912191" y="0"/>
            <a:ext cx="914400" cy="1828800"/>
          </a:xfrm>
          <a:prstGeom prst="rect">
            <a:avLst/>
          </a:prstGeom>
        </p:spPr>
      </p:pic>
      <p:pic>
        <p:nvPicPr>
          <p:cNvPr id="30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alphaModFix amt="100000"/>
          </a:blip>
          <a:stretch/>
        </p:blipFill>
        <p:spPr>
          <a:xfrm>
            <a:off x="9912191" y="2743200"/>
            <a:ext cx="914400" cy="914400"/>
          </a:xfrm>
          <a:prstGeom prst="rect">
            <a:avLst/>
          </a:prstGeom>
        </p:spPr>
      </p:pic>
      <p:sp>
        <p:nvSpPr>
          <p:cNvPr id="31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914400"/>
            <a:ext cx="8120062" cy="3533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b="1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Introducing DataSpeak: Transforming Data Access</a:t>
            </a:r>
          </a:p>
        </p:txBody>
      </p:sp>
      <p:sp>
        <p:nvSpPr>
          <p:cNvPr id="31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4554379"/>
            <a:ext cx="8120062" cy="1123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100" spc="-10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DataSpeak lets users ask business questions and get instant answers — </a:t>
            </a:r>
            <a:r>
              <a:rPr lang="en-US" sz="2100" b="1" spc="-10" dirty="0">
                <a:solidFill>
                  <a:srgbClr val="262D36"/>
                </a:solidFill>
                <a:latin typeface="Roboto" panose="00000700000000000000" pitchFamily="2" charset="0"/>
              </a:rPr>
              <a:t>no SQL, no IT tickets</a:t>
            </a:r>
            <a:r>
              <a:rPr lang="en-US" sz="2100" spc="-10" dirty="0">
                <a:solidFill>
                  <a:srgbClr val="262D36"/>
                </a:solidFill>
                <a:latin typeface="Roboto" panose="00000700000000000000" pitchFamily="2" charset="0"/>
              </a:rPr>
              <a:t>. Empowers faster, data-driven decisions and removes delays for executives and analysts.</a:t>
            </a:r>
          </a:p>
        </p:txBody>
      </p:sp>
      <p:sp>
        <p:nvSpPr>
          <p:cNvPr id="315" name="Presenter Name-45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981200" y="8734425"/>
            <a:ext cx="705326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Amal  Jose</a:t>
            </a:r>
          </a:p>
        </p:txBody>
      </p:sp>
      <p:pic>
        <p:nvPicPr>
          <p:cNvPr id="3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alphaModFix amt="100000"/>
          </a:blip>
          <a:stretch/>
        </p:blipFill>
        <p:spPr>
          <a:xfrm>
            <a:off x="914400" y="8496300"/>
            <a:ext cx="876300" cy="876300"/>
          </a:xfrm>
          <a:prstGeom prst="rect">
            <a:avLst/>
          </a:prstGeom>
        </p:spPr>
      </p:pic>
      <p:pic>
        <p:nvPicPr>
          <p:cNvPr id="319" name="sgPresentorImageNod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3">
            <a:alphaModFix amt="100000"/>
          </a:blip>
          <a:stretch/>
        </p:blipFill>
        <p:spPr>
          <a:xfrm>
            <a:off x="914400" y="8496300"/>
            <a:ext cx="876300" cy="876300"/>
          </a:xfrm>
          <a:prstGeom prst="rect">
            <a:avLst/>
          </a:prstGeom>
        </p:spPr>
      </p:pic>
      <p:pic>
        <p:nvPicPr>
          <p:cNvPr id="3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alphaModFix amt="100000"/>
          </a:blip>
          <a:stretch/>
        </p:blipFill>
        <p:spPr>
          <a:xfrm>
            <a:off x="15239333" y="8763476"/>
            <a:ext cx="762000" cy="762000"/>
          </a:xfrm>
          <a:prstGeom prst="rect">
            <a:avLst/>
          </a:prstGeom>
        </p:spPr>
      </p:pic>
      <p:pic>
        <p:nvPicPr>
          <p:cNvPr id="3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alphaModFix amt="100000"/>
          </a:blip>
          <a:stretch/>
        </p:blipFill>
        <p:spPr>
          <a:xfrm>
            <a:off x="16764572" y="7238905"/>
            <a:ext cx="800100" cy="1524000"/>
          </a:xfrm>
          <a:prstGeom prst="rect">
            <a:avLst/>
          </a:prstGeom>
        </p:spPr>
      </p:pic>
      <p:pic>
        <p:nvPicPr>
          <p:cNvPr id="3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alphaModFix amt="100000"/>
          </a:blip>
          <a:stretch/>
        </p:blipFill>
        <p:spPr>
          <a:xfrm>
            <a:off x="16764448" y="8763447"/>
            <a:ext cx="1523553" cy="762000"/>
          </a:xfrm>
          <a:prstGeom prst="rect">
            <a:avLst/>
          </a:prstGeom>
        </p:spPr>
      </p:pic>
      <p:pic>
        <p:nvPicPr>
          <p:cNvPr id="3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100000"/>
          </a:blip>
          <a:stretch/>
        </p:blipFill>
        <p:spPr>
          <a:xfrm>
            <a:off x="16002000" y="9524619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3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alphaModFix amt="7000"/>
          </a:blip>
          <a:stretch/>
        </p:blipFill>
        <p:spPr>
          <a:xfrm>
            <a:off x="16764448" y="2600325"/>
            <a:ext cx="1523553" cy="762000"/>
          </a:xfrm>
          <a:prstGeom prst="rect">
            <a:avLst/>
          </a:prstGeom>
        </p:spPr>
      </p:pic>
      <p:pic>
        <p:nvPicPr>
          <p:cNvPr id="3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3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3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3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3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alphaModFix amt="7000"/>
          </a:blip>
          <a:stretch/>
        </p:blipFill>
        <p:spPr>
          <a:xfrm>
            <a:off x="762572" y="2267140"/>
            <a:ext cx="762000" cy="762000"/>
          </a:xfrm>
          <a:prstGeom prst="rect">
            <a:avLst/>
          </a:prstGeom>
        </p:spPr>
      </p:pic>
      <p:pic>
        <p:nvPicPr>
          <p:cNvPr id="3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">
            <a:alphaModFix amt="7000"/>
          </a:blip>
          <a:stretch/>
        </p:blipFill>
        <p:spPr>
          <a:xfrm>
            <a:off x="1523238" y="742664"/>
            <a:ext cx="762000" cy="1524000"/>
          </a:xfrm>
          <a:prstGeom prst="rect">
            <a:avLst/>
          </a:prstGeom>
        </p:spPr>
      </p:pic>
      <p:pic>
        <p:nvPicPr>
          <p:cNvPr id="3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">
            <a:alphaModFix amt="100000"/>
          </a:blip>
          <a:stretch/>
        </p:blipFill>
        <p:spPr>
          <a:xfrm>
            <a:off x="914400" y="2628900"/>
            <a:ext cx="5358706" cy="3280320"/>
          </a:xfrm>
          <a:prstGeom prst="rect">
            <a:avLst/>
          </a:prstGeom>
        </p:spPr>
      </p:pic>
      <p:sp>
        <p:nvSpPr>
          <p:cNvPr id="35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3000" y="3789045"/>
            <a:ext cx="493871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100" spc="-10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Average wait for answers from IT/analytics: </a:t>
            </a:r>
            <a:r>
              <a:rPr lang="en-US" sz="2100" b="1" spc="-10" dirty="0">
                <a:solidFill>
                  <a:srgbClr val="000000"/>
                </a:solidFill>
                <a:latin typeface="Roboto" panose="00000700000000000000" pitchFamily="2" charset="0"/>
              </a:rPr>
              <a:t>3–5 days</a:t>
            </a:r>
          </a:p>
        </p:txBody>
      </p:sp>
      <p:pic>
        <p:nvPicPr>
          <p:cNvPr id="3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">
            <a:alphaModFix amt="100000"/>
          </a:blip>
          <a:stretch/>
        </p:blipFill>
        <p:spPr>
          <a:xfrm>
            <a:off x="6464236" y="2628900"/>
            <a:ext cx="5358706" cy="3280320"/>
          </a:xfrm>
          <a:prstGeom prst="rect">
            <a:avLst/>
          </a:prstGeom>
        </p:spPr>
      </p:pic>
      <p:sp>
        <p:nvSpPr>
          <p:cNvPr id="35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92836" y="3789045"/>
            <a:ext cx="493871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100" spc="-10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Finance teams spend </a:t>
            </a:r>
            <a:r>
              <a:rPr lang="en-US" sz="2100" b="1" spc="-10" dirty="0">
                <a:solidFill>
                  <a:srgbClr val="000000"/>
                </a:solidFill>
                <a:latin typeface="Roboto" panose="00000700000000000000" pitchFamily="2" charset="0"/>
              </a:rPr>
              <a:t>40%</a:t>
            </a:r>
            <a:r>
              <a:rPr lang="en-US" sz="2100" spc="-10" dirty="0">
                <a:solidFill>
                  <a:srgbClr val="000000"/>
                </a:solidFill>
                <a:latin typeface="Roboto" panose="00000700000000000000" pitchFamily="2" charset="0"/>
              </a:rPr>
              <a:t> of their time waiting — Sarah Chen, CFO</a:t>
            </a:r>
          </a:p>
        </p:txBody>
      </p:sp>
      <p:pic>
        <p:nvPicPr>
          <p:cNvPr id="3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">
            <a:alphaModFix amt="100000"/>
          </a:blip>
          <a:stretch/>
        </p:blipFill>
        <p:spPr>
          <a:xfrm>
            <a:off x="12014168" y="2628900"/>
            <a:ext cx="5358706" cy="3280320"/>
          </a:xfrm>
          <a:prstGeom prst="rect">
            <a:avLst/>
          </a:prstGeom>
        </p:spPr>
      </p:pic>
      <p:sp>
        <p:nvSpPr>
          <p:cNvPr id="35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42768" y="3789045"/>
            <a:ext cx="493871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100" spc="-10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Estimated annual cost to mid-sized enterprises: </a:t>
            </a:r>
            <a:r>
              <a:rPr lang="en-US" sz="2100" b="1" spc="-10" dirty="0">
                <a:solidFill>
                  <a:srgbClr val="000000"/>
                </a:solidFill>
                <a:latin typeface="Roboto" panose="00000700000000000000" pitchFamily="2" charset="0"/>
              </a:rPr>
              <a:t>$12.9M</a:t>
            </a:r>
          </a:p>
        </p:txBody>
      </p:sp>
      <p:pic>
        <p:nvPicPr>
          <p:cNvPr id="3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alphaModFix amt="100000"/>
          </a:blip>
          <a:stretch/>
        </p:blipFill>
        <p:spPr>
          <a:xfrm>
            <a:off x="914400" y="6096000"/>
            <a:ext cx="5358706" cy="3280320"/>
          </a:xfrm>
          <a:prstGeom prst="rect">
            <a:avLst/>
          </a:prstGeom>
        </p:spPr>
      </p:pic>
      <p:sp>
        <p:nvSpPr>
          <p:cNvPr id="36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3000" y="7256145"/>
            <a:ext cx="493871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100" b="1" spc="-10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73%</a:t>
            </a:r>
            <a:r>
              <a:rPr lang="en-US" sz="2100" spc="-10" dirty="0">
                <a:solidFill>
                  <a:srgbClr val="000000"/>
                </a:solidFill>
                <a:latin typeface="Roboto" panose="00000700000000000000" pitchFamily="2" charset="0"/>
              </a:rPr>
              <a:t> of business decisions proceed without adequate data support</a:t>
            </a:r>
          </a:p>
        </p:txBody>
      </p:sp>
      <p:pic>
        <p:nvPicPr>
          <p:cNvPr id="3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1">
            <a:alphaModFix amt="100000"/>
          </a:blip>
          <a:stretch/>
        </p:blipFill>
        <p:spPr>
          <a:xfrm>
            <a:off x="6464236" y="6096000"/>
            <a:ext cx="5358706" cy="3280320"/>
          </a:xfrm>
          <a:prstGeom prst="rect">
            <a:avLst/>
          </a:prstGeom>
        </p:spPr>
      </p:pic>
      <p:sp>
        <p:nvSpPr>
          <p:cNvPr id="366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92836" y="7256145"/>
            <a:ext cx="4938712" cy="1123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19"/>
              </a:lnSpc>
            </a:pPr>
            <a:r>
              <a:rPr lang="en-US" sz="2100" spc="-10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Outcome: delayed access undermines </a:t>
            </a:r>
            <a:r>
              <a:rPr lang="en-US" sz="2100" b="1" spc="-10" dirty="0">
                <a:solidFill>
                  <a:srgbClr val="000000"/>
                </a:solidFill>
                <a:latin typeface="Roboto" panose="00000700000000000000" pitchFamily="2" charset="0"/>
              </a:rPr>
              <a:t>timely, actionable insights</a:t>
            </a:r>
            <a:r>
              <a:rPr lang="en-US" sz="2100" spc="-10" dirty="0">
                <a:solidFill>
                  <a:srgbClr val="000000"/>
                </a:solidFill>
                <a:latin typeface="Roboto" panose="00000700000000000000" pitchFamily="2" charset="0"/>
              </a:rPr>
              <a:t> and competitive advantage</a:t>
            </a:r>
          </a:p>
        </p:txBody>
      </p:sp>
      <p:sp>
        <p:nvSpPr>
          <p:cNvPr id="36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The Data Bottleneck: Slow Access, Big Cost</a:t>
            </a:r>
          </a:p>
        </p:txBody>
      </p:sp>
      <p:sp>
        <p:nvSpPr>
          <p:cNvPr id="37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Delayed analytics deprives teams of timely insights and drives measurable losses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7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7">
            <a:alphaModFix amt="100000"/>
          </a:blip>
          <a:stretch/>
        </p:blipFill>
        <p:spPr>
          <a:xfrm>
            <a:off x="6610350" y="0"/>
            <a:ext cx="476250" cy="6789390"/>
          </a:xfrm>
          <a:prstGeom prst="rect">
            <a:avLst/>
          </a:prstGeom>
        </p:spPr>
      </p:pic>
      <p:pic>
        <p:nvPicPr>
          <p:cNvPr id="37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9">
            <a:alphaModFix amt="100000"/>
          </a:blip>
          <a:stretch/>
        </p:blipFill>
        <p:spPr>
          <a:xfrm>
            <a:off x="6610350" y="7830502"/>
            <a:ext cx="476250" cy="2456408"/>
          </a:xfrm>
          <a:prstGeom prst="rect">
            <a:avLst/>
          </a:prstGeom>
        </p:spPr>
      </p:pic>
      <p:sp>
        <p:nvSpPr>
          <p:cNvPr id="37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2635" y="5096828"/>
            <a:ext cx="356330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Answers in 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seconds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 with instant follow-ups</a:t>
            </a:r>
          </a:p>
        </p:txBody>
      </p:sp>
      <p:pic>
        <p:nvPicPr>
          <p:cNvPr id="38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1">
            <a:alphaModFix amt="100000"/>
          </a:blip>
          <a:stretch/>
        </p:blipFill>
        <p:spPr>
          <a:xfrm>
            <a:off x="13296900" y="5229416"/>
            <a:ext cx="66080" cy="66080"/>
          </a:xfrm>
          <a:prstGeom prst="rect">
            <a:avLst/>
          </a:prstGeom>
        </p:spPr>
      </p:pic>
      <p:sp>
        <p:nvSpPr>
          <p:cNvPr id="38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2635" y="5759768"/>
            <a:ext cx="356330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Direct export, share, and schedule insights</a:t>
            </a:r>
          </a:p>
        </p:txBody>
      </p:sp>
      <p:pic>
        <p:nvPicPr>
          <p:cNvPr id="38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">
            <a:alphaModFix amt="100000"/>
          </a:blip>
          <a:stretch/>
        </p:blipFill>
        <p:spPr>
          <a:xfrm>
            <a:off x="13296900" y="5892356"/>
            <a:ext cx="66080" cy="66080"/>
          </a:xfrm>
          <a:prstGeom prst="rect">
            <a:avLst/>
          </a:prstGeom>
        </p:spPr>
      </p:pic>
      <p:sp>
        <p:nvSpPr>
          <p:cNvPr id="38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2635" y="6422708"/>
            <a:ext cx="356330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Empowers users; reduces IT load</a:t>
            </a:r>
          </a:p>
        </p:txBody>
      </p:sp>
      <p:pic>
        <p:nvPicPr>
          <p:cNvPr id="38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5">
            <a:alphaModFix amt="100000"/>
          </a:blip>
          <a:stretch/>
        </p:blipFill>
        <p:spPr>
          <a:xfrm>
            <a:off x="13296900" y="6555296"/>
            <a:ext cx="66080" cy="66080"/>
          </a:xfrm>
          <a:prstGeom prst="rect">
            <a:avLst/>
          </a:prstGeom>
        </p:spPr>
      </p:pic>
      <p:sp>
        <p:nvSpPr>
          <p:cNvPr id="39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462635" y="6754178"/>
            <a:ext cx="356330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Accelerates decision cycles and data literacy</a:t>
            </a:r>
          </a:p>
        </p:txBody>
      </p:sp>
      <p:pic>
        <p:nvPicPr>
          <p:cNvPr id="39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7">
            <a:alphaModFix amt="100000"/>
          </a:blip>
          <a:stretch/>
        </p:blipFill>
        <p:spPr>
          <a:xfrm>
            <a:off x="13296900" y="6886766"/>
            <a:ext cx="66080" cy="66080"/>
          </a:xfrm>
          <a:prstGeom prst="rect">
            <a:avLst/>
          </a:prstGeom>
        </p:spPr>
      </p:pic>
      <p:sp>
        <p:nvSpPr>
          <p:cNvPr id="39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296900" y="4258628"/>
            <a:ext cx="37290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DataSpeak Real-Time Interaction</a:t>
            </a:r>
          </a:p>
        </p:txBody>
      </p:sp>
      <p:pic>
        <p:nvPicPr>
          <p:cNvPr id="3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9">
            <a:alphaModFix amt="100000"/>
          </a:blip>
          <a:stretch/>
        </p:blipFill>
        <p:spPr>
          <a:xfrm>
            <a:off x="12915900" y="3252788"/>
            <a:ext cx="4457700" cy="4543425"/>
          </a:xfrm>
          <a:prstGeom prst="rect">
            <a:avLst/>
          </a:prstGeom>
        </p:spPr>
      </p:pic>
      <p:pic>
        <p:nvPicPr>
          <p:cNvPr id="3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1">
            <a:alphaModFix amt="100000"/>
          </a:blip>
          <a:stretch/>
        </p:blipFill>
        <p:spPr>
          <a:xfrm>
            <a:off x="13296900" y="2490788"/>
            <a:ext cx="1466850" cy="1466850"/>
          </a:xfrm>
          <a:prstGeom prst="rect">
            <a:avLst/>
          </a:prstGeom>
        </p:spPr>
      </p:pic>
      <p:pic>
        <p:nvPicPr>
          <p:cNvPr id="401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3">
            <a:alphaModFix amt="100000"/>
          </a:blip>
          <a:stretch/>
        </p:blipFill>
        <p:spPr>
          <a:xfrm>
            <a:off x="13296900" y="2490788"/>
            <a:ext cx="1466850" cy="1466850"/>
          </a:xfrm>
          <a:prstGeom prst="rect">
            <a:avLst/>
          </a:prstGeom>
        </p:spPr>
      </p:pic>
      <p:sp>
        <p:nvSpPr>
          <p:cNvPr id="40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623935" y="4696778"/>
            <a:ext cx="356330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Average wait: 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3–5 Days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 for answers</a:t>
            </a:r>
          </a:p>
        </p:txBody>
      </p:sp>
      <p:pic>
        <p:nvPicPr>
          <p:cNvPr id="40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5">
            <a:alphaModFix amt="100000"/>
          </a:blip>
          <a:stretch/>
        </p:blipFill>
        <p:spPr>
          <a:xfrm>
            <a:off x="8458200" y="4829366"/>
            <a:ext cx="66080" cy="66080"/>
          </a:xfrm>
          <a:prstGeom prst="rect">
            <a:avLst/>
          </a:prstGeom>
        </p:spPr>
      </p:pic>
      <p:sp>
        <p:nvSpPr>
          <p:cNvPr id="40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623935" y="5359718"/>
            <a:ext cx="356330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IT/Analytics tickets and back-and-forth clarifications</a:t>
            </a:r>
          </a:p>
        </p:txBody>
      </p:sp>
      <p:pic>
        <p:nvPicPr>
          <p:cNvPr id="40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7">
            <a:alphaModFix amt="100000"/>
          </a:blip>
          <a:stretch/>
        </p:blipFill>
        <p:spPr>
          <a:xfrm>
            <a:off x="8458200" y="5492306"/>
            <a:ext cx="66080" cy="66080"/>
          </a:xfrm>
          <a:prstGeom prst="rect">
            <a:avLst/>
          </a:prstGeom>
        </p:spPr>
      </p:pic>
      <p:sp>
        <p:nvSpPr>
          <p:cNvPr id="41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623935" y="6022658"/>
            <a:ext cx="356330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High IT bottleneck; lowers agility</a:t>
            </a:r>
          </a:p>
        </p:txBody>
      </p:sp>
      <p:pic>
        <p:nvPicPr>
          <p:cNvPr id="41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9">
            <a:alphaModFix amt="100000"/>
          </a:blip>
          <a:stretch/>
        </p:blipFill>
        <p:spPr>
          <a:xfrm>
            <a:off x="8458200" y="6155246"/>
            <a:ext cx="66080" cy="66080"/>
          </a:xfrm>
          <a:prstGeom prst="rect">
            <a:avLst/>
          </a:prstGeom>
        </p:spPr>
      </p:pic>
      <p:sp>
        <p:nvSpPr>
          <p:cNvPr id="41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623935" y="6354128"/>
            <a:ext cx="356330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Limited ability for follow-up exploration</a:t>
            </a:r>
          </a:p>
        </p:txBody>
      </p:sp>
      <p:pic>
        <p:nvPicPr>
          <p:cNvPr id="41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1">
            <a:alphaModFix amt="100000"/>
          </a:blip>
          <a:stretch/>
        </p:blipFill>
        <p:spPr>
          <a:xfrm>
            <a:off x="8458200" y="6486716"/>
            <a:ext cx="66080" cy="66080"/>
          </a:xfrm>
          <a:prstGeom prst="rect">
            <a:avLst/>
          </a:prstGeom>
        </p:spPr>
      </p:pic>
      <p:sp>
        <p:nvSpPr>
          <p:cNvPr id="41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58200" y="4258628"/>
            <a:ext cx="37290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Traditional Data Requests</a:t>
            </a:r>
          </a:p>
        </p:txBody>
      </p:sp>
      <p:pic>
        <p:nvPicPr>
          <p:cNvPr id="4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3">
            <a:alphaModFix amt="100000"/>
          </a:blip>
          <a:stretch/>
        </p:blipFill>
        <p:spPr>
          <a:xfrm>
            <a:off x="8077200" y="3252788"/>
            <a:ext cx="4457700" cy="4543425"/>
          </a:xfrm>
          <a:prstGeom prst="rect">
            <a:avLst/>
          </a:prstGeom>
        </p:spPr>
      </p:pic>
      <p:pic>
        <p:nvPicPr>
          <p:cNvPr id="42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5">
            <a:alphaModFix amt="100000"/>
          </a:blip>
          <a:stretch/>
        </p:blipFill>
        <p:spPr>
          <a:xfrm>
            <a:off x="12249150" y="5048250"/>
            <a:ext cx="952500" cy="952500"/>
          </a:xfrm>
          <a:prstGeom prst="rect">
            <a:avLst/>
          </a:prstGeom>
        </p:spPr>
      </p:pic>
      <p:sp>
        <p:nvSpPr>
          <p:cNvPr id="425" name="::befor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25338" y="5024438"/>
            <a:ext cx="1000125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ctr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b="1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Vs</a:t>
            </a:r>
          </a:p>
        </p:txBody>
      </p:sp>
      <p:pic>
        <p:nvPicPr>
          <p:cNvPr id="4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7">
            <a:alphaModFix amt="100000"/>
          </a:blip>
          <a:stretch/>
        </p:blipFill>
        <p:spPr>
          <a:xfrm>
            <a:off x="8458200" y="2490788"/>
            <a:ext cx="1466850" cy="1466850"/>
          </a:xfrm>
          <a:prstGeom prst="rect">
            <a:avLst/>
          </a:prstGeom>
        </p:spPr>
      </p:pic>
      <p:pic>
        <p:nvPicPr>
          <p:cNvPr id="429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99">
            <a:alphaModFix amt="100000"/>
          </a:blip>
          <a:stretch/>
        </p:blipFill>
        <p:spPr>
          <a:xfrm>
            <a:off x="8458200" y="2490788"/>
            <a:ext cx="1466850" cy="1466850"/>
          </a:xfrm>
          <a:prstGeom prst="rect">
            <a:avLst/>
          </a:prstGeom>
        </p:spPr>
      </p:pic>
      <p:sp>
        <p:nvSpPr>
          <p:cNvPr id="43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3628454"/>
            <a:ext cx="5253038" cy="2200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DataSpeak: From Tickets to Real-Time Answers</a:t>
            </a:r>
          </a:p>
        </p:txBody>
      </p:sp>
      <p:sp>
        <p:nvSpPr>
          <p:cNvPr id="43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5943600"/>
            <a:ext cx="52530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Replace 3–5 day waits with instant, exportable insights to speed decisions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5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4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7">
            <a:alphaModFix amt="7000"/>
          </a:blip>
          <a:stretch/>
        </p:blipFill>
        <p:spPr>
          <a:xfrm>
            <a:off x="16764448" y="2600325"/>
            <a:ext cx="1523553" cy="762000"/>
          </a:xfrm>
          <a:prstGeom prst="rect">
            <a:avLst/>
          </a:prstGeom>
        </p:spPr>
      </p:pic>
      <p:pic>
        <p:nvPicPr>
          <p:cNvPr id="4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9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4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1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4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3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4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5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4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7">
            <a:alphaModFix amt="7000"/>
          </a:blip>
          <a:stretch/>
        </p:blipFill>
        <p:spPr>
          <a:xfrm>
            <a:off x="762572" y="2267140"/>
            <a:ext cx="762000" cy="762000"/>
          </a:xfrm>
          <a:prstGeom prst="rect">
            <a:avLst/>
          </a:prstGeom>
        </p:spPr>
      </p:pic>
      <p:pic>
        <p:nvPicPr>
          <p:cNvPr id="4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9">
            <a:alphaModFix amt="7000"/>
          </a:blip>
          <a:stretch/>
        </p:blipFill>
        <p:spPr>
          <a:xfrm>
            <a:off x="1523238" y="742664"/>
            <a:ext cx="762000" cy="1524000"/>
          </a:xfrm>
          <a:prstGeom prst="rect">
            <a:avLst/>
          </a:prstGeom>
        </p:spPr>
      </p:pic>
      <p:pic>
        <p:nvPicPr>
          <p:cNvPr id="454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1">
            <a:alphaModFix amt="100000"/>
          </a:blip>
          <a:stretch/>
        </p:blipFill>
        <p:spPr>
          <a:xfrm>
            <a:off x="914400" y="2628900"/>
            <a:ext cx="16459200" cy="6743700"/>
          </a:xfrm>
          <a:prstGeom prst="rect">
            <a:avLst/>
          </a:prstGeom>
        </p:spPr>
      </p:pic>
      <p:pic>
        <p:nvPicPr>
          <p:cNvPr id="455" name="iconNodebfd01724-fd5f-44d9-b4a6-bb29ea7e34e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4">
            <a:alphaModFix amt="100000"/>
            <a:extLst>
              <a:ext uri="{E8AAE01A-E678-4F48-8D55-5637BB87FACE}">
                <asvg:svgBlip xmlns:r="http://schemas.openxmlformats.org/officeDocument/2006/relationships" xmlns:asvg="http://schemas.microsoft.com/office/drawing/2016/SVG/main" r:embed="rId123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3070955" y="2815209"/>
            <a:ext cx="935164" cy="935164"/>
          </a:xfrm>
          <a:prstGeom prst="rect">
            <a:avLst/>
          </a:prstGeom>
        </p:spPr>
      </p:pic>
      <p:pic>
        <p:nvPicPr>
          <p:cNvPr id="456" name="iconNode1c161715-9b28-4667-b52e-baf685b3d36f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7">
            <a:alphaModFix amt="100000"/>
            <a:extLst>
              <a:ext uri="{B795CAC3-F0E8-46FF-A992-6674056A6535}">
                <asvg:svgBlip xmlns:r="http://schemas.openxmlformats.org/officeDocument/2006/relationships" xmlns:asvg="http://schemas.microsoft.com/office/drawing/2016/SVG/main" r:embed="rId12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676322" y="2815209"/>
            <a:ext cx="935164" cy="935164"/>
          </a:xfrm>
          <a:prstGeom prst="rect">
            <a:avLst/>
          </a:prstGeom>
        </p:spPr>
      </p:pic>
      <p:pic>
        <p:nvPicPr>
          <p:cNvPr id="457" name="iconNoded646de57-ce1e-4ee7-a693-220d7674fdf6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0">
            <a:alphaModFix amt="100000"/>
            <a:extLst>
              <a:ext uri="{42E04DB5-855E-4CE9-B551-74B3D305114F}">
                <asvg:svgBlip xmlns:r="http://schemas.openxmlformats.org/officeDocument/2006/relationships" xmlns:asvg="http://schemas.microsoft.com/office/drawing/2016/SVG/main" r:embed="rId12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4203299" y="2815209"/>
            <a:ext cx="935164" cy="935164"/>
          </a:xfrm>
          <a:prstGeom prst="rect">
            <a:avLst/>
          </a:prstGeom>
        </p:spPr>
      </p:pic>
      <p:sp>
        <p:nvSpPr>
          <p:cNvPr id="45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1142" y="4455795"/>
            <a:ext cx="40719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Ask</a:t>
            </a:r>
          </a:p>
        </p:txBody>
      </p:sp>
      <p:sp>
        <p:nvSpPr>
          <p:cNvPr id="45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1142" y="5637657"/>
            <a:ext cx="407193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Type questions in plain English using familiar business terms (no SQL, no IT tickets).</a:t>
            </a:r>
          </a:p>
        </p:txBody>
      </p:sp>
      <p:sp>
        <p:nvSpPr>
          <p:cNvPr id="46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26605" y="4455795"/>
            <a:ext cx="40719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Understand</a:t>
            </a:r>
          </a:p>
        </p:txBody>
      </p:sp>
      <p:sp>
        <p:nvSpPr>
          <p:cNvPr id="46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26605" y="5637657"/>
            <a:ext cx="40719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AI interprets intent in context and retrieves relevant data instantly.</a:t>
            </a:r>
          </a:p>
        </p:txBody>
      </p:sp>
      <p:sp>
        <p:nvSpPr>
          <p:cNvPr id="46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53582" y="4455795"/>
            <a:ext cx="40719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Deliver</a:t>
            </a:r>
          </a:p>
        </p:txBody>
      </p:sp>
      <p:sp>
        <p:nvSpPr>
          <p:cNvPr id="46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53582" y="5637657"/>
            <a:ext cx="40719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Results in tables, charts, and insights; export or share. Example: top products in California last month returned in under five seconds.</a:t>
            </a:r>
          </a:p>
        </p:txBody>
      </p:sp>
      <p:sp>
        <p:nvSpPr>
          <p:cNvPr id="46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Three Simple Steps to Data‑Driven Decisions</a:t>
            </a:r>
          </a:p>
        </p:txBody>
      </p:sp>
      <p:sp>
        <p:nvSpPr>
          <p:cNvPr id="46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Ask in plain English, let AI interpret context, get instant tables, charts, and shareable insights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7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6">
            <a:alphaModFix amt="100000"/>
          </a:blip>
          <a:stretch/>
        </p:blipFill>
        <p:spPr>
          <a:xfrm>
            <a:off x="6610350" y="0"/>
            <a:ext cx="476250" cy="6789390"/>
          </a:xfrm>
          <a:prstGeom prst="rect">
            <a:avLst/>
          </a:prstGeom>
        </p:spPr>
      </p:pic>
      <p:pic>
        <p:nvPicPr>
          <p:cNvPr id="47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8">
            <a:alphaModFix amt="100000"/>
          </a:blip>
          <a:stretch/>
        </p:blipFill>
        <p:spPr>
          <a:xfrm>
            <a:off x="6610350" y="7830502"/>
            <a:ext cx="476250" cy="2456408"/>
          </a:xfrm>
          <a:prstGeom prst="rect">
            <a:avLst/>
          </a:prstGeom>
        </p:spPr>
      </p:pic>
      <p:pic>
        <p:nvPicPr>
          <p:cNvPr id="4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0">
            <a:alphaModFix amt="100000"/>
          </a:blip>
          <a:stretch/>
        </p:blipFill>
        <p:spPr>
          <a:xfrm>
            <a:off x="8077200" y="1104900"/>
            <a:ext cx="2897386" cy="8284815"/>
          </a:xfrm>
          <a:prstGeom prst="rect">
            <a:avLst/>
          </a:prstGeom>
        </p:spPr>
      </p:pic>
      <p:pic>
        <p:nvPicPr>
          <p:cNvPr id="4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2">
            <a:alphaModFix amt="100000"/>
          </a:blip>
          <a:stretch/>
        </p:blipFill>
        <p:spPr>
          <a:xfrm>
            <a:off x="8267700" y="914400"/>
            <a:ext cx="2514600" cy="800100"/>
          </a:xfrm>
          <a:prstGeom prst="rect">
            <a:avLst/>
          </a:prstGeom>
        </p:spPr>
      </p:pic>
      <p:sp>
        <p:nvSpPr>
          <p:cNvPr id="479" name="Primary Heading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58200" y="914400"/>
            <a:ext cx="21669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Finance &amp; Banking</a:t>
            </a:r>
          </a:p>
        </p:txBody>
      </p:sp>
      <p:pic>
        <p:nvPicPr>
          <p:cNvPr id="4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4">
            <a:alphaModFix amt="100000"/>
          </a:blip>
          <a:stretch/>
        </p:blipFill>
        <p:spPr>
          <a:xfrm>
            <a:off x="8267700" y="2038350"/>
            <a:ext cx="2514600" cy="914400"/>
          </a:xfrm>
          <a:prstGeom prst="rect">
            <a:avLst/>
          </a:prstGeom>
        </p:spPr>
      </p:pic>
      <p:sp>
        <p:nvSpPr>
          <p:cNvPr id="483" name="Primary Heading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58200" y="2190750"/>
            <a:ext cx="2166938" cy="61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Monitor quarterly revenue vs forecasts</a:t>
            </a:r>
          </a:p>
        </p:txBody>
      </p:sp>
      <p:pic>
        <p:nvPicPr>
          <p:cNvPr id="4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6">
            <a:alphaModFix amt="100000"/>
          </a:blip>
          <a:stretch/>
        </p:blipFill>
        <p:spPr>
          <a:xfrm>
            <a:off x="8267700" y="3046095"/>
            <a:ext cx="2514600" cy="1219200"/>
          </a:xfrm>
          <a:prstGeom prst="rect">
            <a:avLst/>
          </a:prstGeom>
        </p:spPr>
      </p:pic>
      <p:sp>
        <p:nvSpPr>
          <p:cNvPr id="487" name="Primary Heading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58200" y="3198495"/>
            <a:ext cx="2166938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Manage payment delays and optimize cash flow</a:t>
            </a:r>
          </a:p>
        </p:txBody>
      </p:sp>
      <p:pic>
        <p:nvPicPr>
          <p:cNvPr id="4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8">
            <a:alphaModFix amt="100000"/>
          </a:blip>
          <a:stretch/>
        </p:blipFill>
        <p:spPr>
          <a:xfrm>
            <a:off x="8267700" y="4357688"/>
            <a:ext cx="2514600" cy="1219200"/>
          </a:xfrm>
          <a:prstGeom prst="rect">
            <a:avLst/>
          </a:prstGeom>
        </p:spPr>
      </p:pic>
      <p:sp>
        <p:nvSpPr>
          <p:cNvPr id="491" name="Primary Heading-0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58200" y="4510088"/>
            <a:ext cx="2166938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Analyze expense variances for faster decisions</a:t>
            </a:r>
          </a:p>
        </p:txBody>
      </p:sp>
      <p:pic>
        <p:nvPicPr>
          <p:cNvPr id="4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0">
            <a:alphaModFix amt="100000"/>
          </a:blip>
          <a:stretch/>
        </p:blipFill>
        <p:spPr>
          <a:xfrm>
            <a:off x="11277600" y="1104900"/>
            <a:ext cx="2897386" cy="8284815"/>
          </a:xfrm>
          <a:prstGeom prst="rect">
            <a:avLst/>
          </a:prstGeom>
        </p:spPr>
      </p:pic>
      <p:pic>
        <p:nvPicPr>
          <p:cNvPr id="4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2">
            <a:alphaModFix amt="100000"/>
          </a:blip>
          <a:stretch/>
        </p:blipFill>
        <p:spPr>
          <a:xfrm>
            <a:off x="11468100" y="914400"/>
            <a:ext cx="2514600" cy="800100"/>
          </a:xfrm>
          <a:prstGeom prst="rect">
            <a:avLst/>
          </a:prstGeom>
        </p:spPr>
      </p:pic>
      <p:sp>
        <p:nvSpPr>
          <p:cNvPr id="497" name="Primary Heading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58600" y="914400"/>
            <a:ext cx="21669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Retail &amp; E‑Commerce</a:t>
            </a:r>
          </a:p>
        </p:txBody>
      </p:sp>
      <p:pic>
        <p:nvPicPr>
          <p:cNvPr id="4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4">
            <a:alphaModFix amt="100000"/>
          </a:blip>
          <a:stretch/>
        </p:blipFill>
        <p:spPr>
          <a:xfrm>
            <a:off x="11468100" y="2038350"/>
            <a:ext cx="2514600" cy="914400"/>
          </a:xfrm>
          <a:prstGeom prst="rect">
            <a:avLst/>
          </a:prstGeom>
        </p:spPr>
      </p:pic>
      <p:sp>
        <p:nvSpPr>
          <p:cNvPr id="501" name="Primary Heading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58600" y="2190750"/>
            <a:ext cx="2166938" cy="61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Identify at-risk SKUs and reduce stockouts</a:t>
            </a:r>
          </a:p>
        </p:txBody>
      </p:sp>
      <p:pic>
        <p:nvPicPr>
          <p:cNvPr id="5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6">
            <a:alphaModFix amt="100000"/>
          </a:blip>
          <a:stretch/>
        </p:blipFill>
        <p:spPr>
          <a:xfrm>
            <a:off x="11468100" y="3046095"/>
            <a:ext cx="2514600" cy="1219200"/>
          </a:xfrm>
          <a:prstGeom prst="rect">
            <a:avLst/>
          </a:prstGeom>
        </p:spPr>
      </p:pic>
      <p:sp>
        <p:nvSpPr>
          <p:cNvPr id="505" name="Primary Heading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58600" y="3198495"/>
            <a:ext cx="2166938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Analyze seasonal sales trends and promotions</a:t>
            </a:r>
          </a:p>
        </p:txBody>
      </p:sp>
      <p:pic>
        <p:nvPicPr>
          <p:cNvPr id="5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8">
            <a:alphaModFix amt="100000"/>
          </a:blip>
          <a:stretch/>
        </p:blipFill>
        <p:spPr>
          <a:xfrm>
            <a:off x="11468100" y="4357688"/>
            <a:ext cx="2514600" cy="914400"/>
          </a:xfrm>
          <a:prstGeom prst="rect">
            <a:avLst/>
          </a:prstGeom>
        </p:spPr>
      </p:pic>
      <p:sp>
        <p:nvSpPr>
          <p:cNvPr id="509" name="Primary Heading-1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58600" y="4510088"/>
            <a:ext cx="2166938" cy="61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Optimize inventory and margin performance</a:t>
            </a:r>
          </a:p>
        </p:txBody>
      </p:sp>
      <p:pic>
        <p:nvPicPr>
          <p:cNvPr id="5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0">
            <a:alphaModFix amt="100000"/>
          </a:blip>
          <a:stretch/>
        </p:blipFill>
        <p:spPr>
          <a:xfrm>
            <a:off x="14478000" y="1104900"/>
            <a:ext cx="2897386" cy="8284815"/>
          </a:xfrm>
          <a:prstGeom prst="rect">
            <a:avLst/>
          </a:prstGeom>
        </p:spPr>
      </p:pic>
      <p:pic>
        <p:nvPicPr>
          <p:cNvPr id="5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2">
            <a:alphaModFix amt="100000"/>
          </a:blip>
          <a:stretch/>
        </p:blipFill>
        <p:spPr>
          <a:xfrm>
            <a:off x="14995303" y="914400"/>
            <a:ext cx="1857375" cy="400050"/>
          </a:xfrm>
          <a:prstGeom prst="rect">
            <a:avLst/>
          </a:prstGeom>
        </p:spPr>
      </p:pic>
      <p:sp>
        <p:nvSpPr>
          <p:cNvPr id="515" name="Primary Heading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185803" y="914400"/>
            <a:ext cx="15097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Healthcare</a:t>
            </a:r>
          </a:p>
        </p:txBody>
      </p:sp>
      <p:pic>
        <p:nvPicPr>
          <p:cNvPr id="5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4">
            <a:alphaModFix amt="100000"/>
          </a:blip>
          <a:stretch/>
        </p:blipFill>
        <p:spPr>
          <a:xfrm>
            <a:off x="14668500" y="1638300"/>
            <a:ext cx="2514600" cy="914400"/>
          </a:xfrm>
          <a:prstGeom prst="rect">
            <a:avLst/>
          </a:prstGeom>
        </p:spPr>
      </p:pic>
      <p:sp>
        <p:nvSpPr>
          <p:cNvPr id="519" name="Primary Heading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859000" y="1790700"/>
            <a:ext cx="2166938" cy="61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Track patient wait times and throughput</a:t>
            </a:r>
          </a:p>
        </p:txBody>
      </p:sp>
      <p:pic>
        <p:nvPicPr>
          <p:cNvPr id="5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6">
            <a:alphaModFix amt="100000"/>
          </a:blip>
          <a:stretch/>
        </p:blipFill>
        <p:spPr>
          <a:xfrm>
            <a:off x="14668500" y="2646045"/>
            <a:ext cx="2514600" cy="914400"/>
          </a:xfrm>
          <a:prstGeom prst="rect">
            <a:avLst/>
          </a:prstGeom>
        </p:spPr>
      </p:pic>
      <p:sp>
        <p:nvSpPr>
          <p:cNvPr id="523" name="Primary Heading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859000" y="2798445"/>
            <a:ext cx="2166938" cy="61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Monitor clinical trial enrollments</a:t>
            </a:r>
          </a:p>
        </p:txBody>
      </p:sp>
      <p:pic>
        <p:nvPicPr>
          <p:cNvPr id="5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8">
            <a:alphaModFix amt="100000"/>
          </a:blip>
          <a:stretch/>
        </p:blipFill>
        <p:spPr>
          <a:xfrm>
            <a:off x="14668500" y="3653790"/>
            <a:ext cx="2514600" cy="1219200"/>
          </a:xfrm>
          <a:prstGeom prst="rect">
            <a:avLst/>
          </a:prstGeom>
        </p:spPr>
      </p:pic>
      <p:sp>
        <p:nvSpPr>
          <p:cNvPr id="527" name="Primary Heading-2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859000" y="3806190"/>
            <a:ext cx="2166938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Support industry-specific compliance and operational needs</a:t>
            </a:r>
          </a:p>
        </p:txBody>
      </p:sp>
      <p:sp>
        <p:nvSpPr>
          <p:cNvPr id="52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3476054"/>
            <a:ext cx="5253038" cy="2200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Tailored Solutions Built for Your Industry</a:t>
            </a:r>
          </a:p>
        </p:txBody>
      </p:sp>
      <p:sp>
        <p:nvSpPr>
          <p:cNvPr id="53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5791200"/>
            <a:ext cx="525303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Instant, compliance-ready metrics for Finance, Retail, and Healthcare — empower analysts and executives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4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5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6">
            <a:alphaModFix amt="100000"/>
          </a:blip>
          <a:stretch/>
        </p:blipFill>
        <p:spPr>
          <a:xfrm>
            <a:off x="17525428" y="0"/>
            <a:ext cx="762000" cy="762000"/>
          </a:xfrm>
          <a:prstGeom prst="rect">
            <a:avLst/>
          </a:prstGeom>
        </p:spPr>
      </p:pic>
      <p:pic>
        <p:nvPicPr>
          <p:cNvPr id="5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8">
            <a:alphaModFix amt="100000"/>
          </a:blip>
          <a:stretch/>
        </p:blipFill>
        <p:spPr>
          <a:xfrm>
            <a:off x="914400" y="2628900"/>
            <a:ext cx="5711131" cy="3280320"/>
          </a:xfrm>
          <a:prstGeom prst="rect">
            <a:avLst/>
          </a:prstGeom>
        </p:spPr>
      </p:pic>
      <p:sp>
        <p:nvSpPr>
          <p:cNvPr id="542" name="$50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3000" y="3033712"/>
            <a:ext cx="5291138" cy="1104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8661"/>
              </a:lnSpc>
            </a:pPr>
            <a:r>
              <a:rPr lang="en-US" sz="6415" dirty="0">
                <a:solidFill>
                  <a:srgbClr val="191769">
                    <a:alpha val="100000"/>
                  </a:srgbClr>
                </a:solidFill>
                <a:latin typeface="Poppins SemiBold" panose="00000700000000000000" pitchFamily="2" charset="0"/>
              </a:rPr>
              <a:t>85 %</a:t>
            </a:r>
          </a:p>
        </p:txBody>
      </p:sp>
      <p:sp>
        <p:nvSpPr>
          <p:cNvPr id="54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3000" y="4400264"/>
            <a:ext cx="52911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IT relief from routine requests</a:t>
            </a:r>
          </a:p>
        </p:txBody>
      </p:sp>
      <p:sp>
        <p:nvSpPr>
          <p:cNvPr id="54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3000" y="4838414"/>
            <a:ext cx="52911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Frees 85% of IT teams to focus on strategic work</a:t>
            </a:r>
          </a:p>
        </p:txBody>
      </p:sp>
      <p:pic>
        <p:nvPicPr>
          <p:cNvPr id="5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0">
            <a:alphaModFix amt="100000"/>
          </a:blip>
          <a:stretch/>
        </p:blipFill>
        <p:spPr>
          <a:xfrm>
            <a:off x="6819900" y="2628900"/>
            <a:ext cx="5711131" cy="3280320"/>
          </a:xfrm>
          <a:prstGeom prst="rect">
            <a:avLst/>
          </a:prstGeom>
        </p:spPr>
      </p:pic>
      <p:sp>
        <p:nvSpPr>
          <p:cNvPr id="549" name="$50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048500" y="3033712"/>
            <a:ext cx="5291138" cy="1104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8661"/>
              </a:lnSpc>
            </a:pPr>
            <a:r>
              <a:rPr lang="en-US" sz="6415" dirty="0">
                <a:solidFill>
                  <a:srgbClr val="191769">
                    <a:alpha val="100000"/>
                  </a:srgbClr>
                </a:solidFill>
                <a:latin typeface="Poppins SemiBold" panose="00000700000000000000" pitchFamily="2" charset="0"/>
              </a:rPr>
              <a:t>40 %</a:t>
            </a:r>
          </a:p>
        </p:txBody>
      </p:sp>
      <p:sp>
        <p:nvSpPr>
          <p:cNvPr id="55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048500" y="4400264"/>
            <a:ext cx="52911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Faster decision-making</a:t>
            </a:r>
          </a:p>
        </p:txBody>
      </p:sp>
      <p:sp>
        <p:nvSpPr>
          <p:cNvPr id="55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048500" y="4838414"/>
            <a:ext cx="52911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Enables 40% better decision speed via self-service access</a:t>
            </a:r>
          </a:p>
        </p:txBody>
      </p:sp>
      <p:pic>
        <p:nvPicPr>
          <p:cNvPr id="5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2">
            <a:alphaModFix amt="100000"/>
          </a:blip>
          <a:stretch/>
        </p:blipFill>
        <p:spPr>
          <a:xfrm>
            <a:off x="914400" y="6096000"/>
            <a:ext cx="5711131" cy="3280320"/>
          </a:xfrm>
          <a:prstGeom prst="rect">
            <a:avLst/>
          </a:prstGeom>
        </p:spPr>
      </p:pic>
      <p:sp>
        <p:nvSpPr>
          <p:cNvPr id="556" name="$50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3000" y="6500812"/>
            <a:ext cx="5291138" cy="1104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8661"/>
              </a:lnSpc>
            </a:pPr>
            <a:r>
              <a:rPr lang="en-US" sz="6415" dirty="0">
                <a:solidFill>
                  <a:srgbClr val="191769">
                    <a:alpha val="100000"/>
                  </a:srgbClr>
                </a:solidFill>
                <a:latin typeface="Poppins SemiBold" panose="00000700000000000000" pitchFamily="2" charset="0"/>
              </a:rPr>
              <a:t>2.4m</a:t>
            </a:r>
          </a:p>
        </p:txBody>
      </p:sp>
      <p:sp>
        <p:nvSpPr>
          <p:cNvPr id="55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3000" y="7867460"/>
            <a:ext cx="52911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Cost savings realized</a:t>
            </a:r>
          </a:p>
        </p:txBody>
      </p:sp>
      <p:sp>
        <p:nvSpPr>
          <p:cNvPr id="55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3000" y="8305610"/>
            <a:ext cx="52911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$2.4 million saved by increasing data democracy</a:t>
            </a:r>
          </a:p>
        </p:txBody>
      </p:sp>
      <p:sp>
        <p:nvSpPr>
          <p:cNvPr id="56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92100" y="4591050"/>
            <a:ext cx="4414838" cy="581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1" spc="-8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Self-service analytics</a:t>
            </a:r>
            <a:r>
              <a:rPr lang="en-US" sz="1500" spc="-8" dirty="0">
                <a:solidFill>
                  <a:srgbClr val="000000"/>
                </a:solidFill>
                <a:latin typeface="Roboto" panose="00000700000000000000" pitchFamily="2" charset="0"/>
              </a:rPr>
              <a:t> accelerates access to real-time data and reduces manual reporting</a:t>
            </a:r>
          </a:p>
        </p:txBody>
      </p:sp>
      <p:sp>
        <p:nvSpPr>
          <p:cNvPr id="56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92100" y="5353050"/>
            <a:ext cx="4414838" cy="581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-8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Increased </a:t>
            </a:r>
            <a:r>
              <a:rPr lang="en-US" sz="1500" b="1" spc="-8" dirty="0">
                <a:solidFill>
                  <a:srgbClr val="000000"/>
                </a:solidFill>
                <a:latin typeface="Roboto" panose="00000700000000000000" pitchFamily="2" charset="0"/>
              </a:rPr>
              <a:t>data literacy</a:t>
            </a:r>
            <a:r>
              <a:rPr lang="en-US" sz="1500" spc="-8" dirty="0">
                <a:solidFill>
                  <a:srgbClr val="000000"/>
                </a:solidFill>
                <a:latin typeface="Roboto" panose="00000700000000000000" pitchFamily="2" charset="0"/>
              </a:rPr>
              <a:t> across the workforce drives proactive, strategic analysis</a:t>
            </a:r>
          </a:p>
        </p:txBody>
      </p:sp>
      <p:sp>
        <p:nvSpPr>
          <p:cNvPr id="56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92100" y="6115050"/>
            <a:ext cx="4414838" cy="581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-8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Shift focus from waiting for static reports to </a:t>
            </a:r>
            <a:r>
              <a:rPr lang="en-US" sz="1500" b="1" spc="-8" dirty="0">
                <a:solidFill>
                  <a:srgbClr val="000000"/>
                </a:solidFill>
                <a:latin typeface="Roboto" panose="00000700000000000000" pitchFamily="2" charset="0"/>
              </a:rPr>
              <a:t>strategic actions</a:t>
            </a:r>
          </a:p>
        </p:txBody>
      </p:sp>
      <p:sp>
        <p:nvSpPr>
          <p:cNvPr id="56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92100" y="6877050"/>
            <a:ext cx="4414838" cy="581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spc="-8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Summary: measurable gains in efficiency, speed, and cost from enabling data democracy</a:t>
            </a:r>
          </a:p>
        </p:txBody>
      </p:sp>
      <p:sp>
        <p:nvSpPr>
          <p:cNvPr id="56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Measurable Impact: Real Results from Customers</a:t>
            </a:r>
          </a:p>
        </p:txBody>
      </p:sp>
      <p:sp>
        <p:nvSpPr>
          <p:cNvPr id="57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How DataSpeak frees IT, speeds decisions, and cuts costs through self-service analytics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8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5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0">
            <a:alphaModFix amt="7000"/>
          </a:blip>
          <a:stretch/>
        </p:blipFill>
        <p:spPr>
          <a:xfrm>
            <a:off x="16764448" y="2600325"/>
            <a:ext cx="1523553" cy="762000"/>
          </a:xfrm>
          <a:prstGeom prst="rect">
            <a:avLst/>
          </a:prstGeom>
        </p:spPr>
      </p:pic>
      <p:pic>
        <p:nvPicPr>
          <p:cNvPr id="5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2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5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4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5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6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5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8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5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0">
            <a:alphaModFix amt="7000"/>
          </a:blip>
          <a:stretch/>
        </p:blipFill>
        <p:spPr>
          <a:xfrm>
            <a:off x="762572" y="2267140"/>
            <a:ext cx="762000" cy="762000"/>
          </a:xfrm>
          <a:prstGeom prst="rect">
            <a:avLst/>
          </a:prstGeom>
        </p:spPr>
      </p:pic>
      <p:pic>
        <p:nvPicPr>
          <p:cNvPr id="5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2">
            <a:alphaModFix amt="7000"/>
          </a:blip>
          <a:stretch/>
        </p:blipFill>
        <p:spPr>
          <a:xfrm>
            <a:off x="1523238" y="742664"/>
            <a:ext cx="762000" cy="1524000"/>
          </a:xfrm>
          <a:prstGeom prst="rect">
            <a:avLst/>
          </a:prstGeom>
        </p:spPr>
      </p:pic>
      <p:pic>
        <p:nvPicPr>
          <p:cNvPr id="5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4">
            <a:alphaModFix amt="100000"/>
          </a:blip>
          <a:stretch/>
        </p:blipFill>
        <p:spPr>
          <a:xfrm>
            <a:off x="914400" y="4293870"/>
            <a:ext cx="5358706" cy="1613445"/>
          </a:xfrm>
          <a:prstGeom prst="rect">
            <a:avLst/>
          </a:prstGeom>
        </p:spPr>
      </p:pic>
      <p:sp>
        <p:nvSpPr>
          <p:cNvPr id="594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3000" y="4522470"/>
            <a:ext cx="41386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Role-based access control with strict row-level security to restrict data by user</a:t>
            </a:r>
          </a:p>
        </p:txBody>
      </p:sp>
      <p:pic>
        <p:nvPicPr>
          <p:cNvPr id="596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7">
            <a:alphaModFix amt="100000"/>
            <a:extLst>
              <a:ext uri="{6A92A290-7B1A-4C3B-B0CE-8B31B4B727A5}">
                <asvg:svgBlip xmlns:r="http://schemas.openxmlformats.org/officeDocument/2006/relationships" xmlns:asvg="http://schemas.microsoft.com/office/drawing/2016/SVG/main" r:embed="rId20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5405056" y="4522470"/>
            <a:ext cx="640080" cy="640080"/>
          </a:xfrm>
          <a:prstGeom prst="rect">
            <a:avLst/>
          </a:prstGeom>
        </p:spPr>
      </p:pic>
      <p:pic>
        <p:nvPicPr>
          <p:cNvPr id="5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9">
            <a:alphaModFix amt="100000"/>
          </a:blip>
          <a:stretch/>
        </p:blipFill>
        <p:spPr>
          <a:xfrm>
            <a:off x="6464236" y="4293870"/>
            <a:ext cx="5358706" cy="1613445"/>
          </a:xfrm>
          <a:prstGeom prst="rect">
            <a:avLst/>
          </a:prstGeom>
        </p:spPr>
      </p:pic>
      <p:sp>
        <p:nvSpPr>
          <p:cNvPr id="60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92836" y="4522470"/>
            <a:ext cx="41386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SOC 2, HIPAA, GDPR, PCI-DSS supported for regulatory compliance</a:t>
            </a:r>
          </a:p>
        </p:txBody>
      </p:sp>
      <p:pic>
        <p:nvPicPr>
          <p:cNvPr id="602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2">
            <a:alphaModFix amt="100000"/>
            <a:extLst>
              <a:ext uri="{ADC1C471-7B90-47D3-8B73-2EE077E8D6C3}">
                <asvg:svgBlip xmlns:r="http://schemas.openxmlformats.org/officeDocument/2006/relationships" xmlns:asvg="http://schemas.microsoft.com/office/drawing/2016/SVG/main" r:embed="rId21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0954893" y="4522470"/>
            <a:ext cx="640080" cy="640080"/>
          </a:xfrm>
          <a:prstGeom prst="rect">
            <a:avLst/>
          </a:prstGeom>
        </p:spPr>
      </p:pic>
      <p:pic>
        <p:nvPicPr>
          <p:cNvPr id="6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4">
            <a:alphaModFix amt="100000"/>
          </a:blip>
          <a:stretch/>
        </p:blipFill>
        <p:spPr>
          <a:xfrm>
            <a:off x="12014168" y="4293870"/>
            <a:ext cx="5358706" cy="1622970"/>
          </a:xfrm>
          <a:prstGeom prst="rect">
            <a:avLst/>
          </a:prstGeom>
        </p:spPr>
      </p:pic>
      <p:sp>
        <p:nvSpPr>
          <p:cNvPr id="60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42768" y="4522470"/>
            <a:ext cx="413861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Deployments in on-premises or private cloud so data stays within customer environments</a:t>
            </a:r>
          </a:p>
        </p:txBody>
      </p:sp>
      <p:pic>
        <p:nvPicPr>
          <p:cNvPr id="608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7">
            <a:alphaModFix amt="100000"/>
            <a:extLst>
              <a:ext uri="{2C5F3F5E-AA49-4DCE-A2BF-B6ECF8B90EDF}">
                <asvg:svgBlip xmlns:r="http://schemas.openxmlformats.org/officeDocument/2006/relationships" xmlns:asvg="http://schemas.microsoft.com/office/drawing/2016/SVG/main" r:embed="rId21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6504825" y="4522470"/>
            <a:ext cx="640080" cy="640080"/>
          </a:xfrm>
          <a:prstGeom prst="rect">
            <a:avLst/>
          </a:prstGeom>
        </p:spPr>
      </p:pic>
      <p:pic>
        <p:nvPicPr>
          <p:cNvPr id="6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9">
            <a:alphaModFix amt="100000"/>
          </a:blip>
          <a:stretch/>
        </p:blipFill>
        <p:spPr>
          <a:xfrm>
            <a:off x="914400" y="6096000"/>
            <a:ext cx="5358706" cy="1613445"/>
          </a:xfrm>
          <a:prstGeom prst="rect">
            <a:avLst/>
          </a:prstGeom>
        </p:spPr>
      </p:pic>
      <p:sp>
        <p:nvSpPr>
          <p:cNvPr id="61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3000" y="6324600"/>
            <a:ext cx="41386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Encryption in transit &amp; at rest plus PII masking for data protection</a:t>
            </a:r>
          </a:p>
        </p:txBody>
      </p:sp>
      <p:pic>
        <p:nvPicPr>
          <p:cNvPr id="614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2">
            <a:alphaModFix amt="100000"/>
            <a:extLst>
              <a:ext uri="{5A9482A6-60EF-469E-902B-E7227EB69673}">
                <asvg:svgBlip xmlns:r="http://schemas.openxmlformats.org/officeDocument/2006/relationships" xmlns:asvg="http://schemas.microsoft.com/office/drawing/2016/SVG/main" r:embed="rId22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5405056" y="6324600"/>
            <a:ext cx="640080" cy="640080"/>
          </a:xfrm>
          <a:prstGeom prst="rect">
            <a:avLst/>
          </a:prstGeom>
        </p:spPr>
      </p:pic>
      <p:pic>
        <p:nvPicPr>
          <p:cNvPr id="6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4">
            <a:alphaModFix amt="100000"/>
          </a:blip>
          <a:stretch/>
        </p:blipFill>
        <p:spPr>
          <a:xfrm>
            <a:off x="6464236" y="6096000"/>
            <a:ext cx="5358706" cy="1622970"/>
          </a:xfrm>
          <a:prstGeom prst="rect">
            <a:avLst/>
          </a:prstGeom>
        </p:spPr>
      </p:pic>
      <p:sp>
        <p:nvSpPr>
          <p:cNvPr id="618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692836" y="6324600"/>
            <a:ext cx="413861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SSO / SAML integration and comprehensive audit trails for access and activity logging</a:t>
            </a:r>
          </a:p>
        </p:txBody>
      </p:sp>
      <p:pic>
        <p:nvPicPr>
          <p:cNvPr id="620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7">
            <a:alphaModFix amt="100000"/>
            <a:extLst>
              <a:ext uri="{9E16B016-354E-4FF7-AEBA-2A85069929C4}">
                <asvg:svgBlip xmlns:r="http://schemas.openxmlformats.org/officeDocument/2006/relationships" xmlns:asvg="http://schemas.microsoft.com/office/drawing/2016/SVG/main" r:embed="rId22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0954893" y="6324600"/>
            <a:ext cx="640080" cy="640080"/>
          </a:xfrm>
          <a:prstGeom prst="rect">
            <a:avLst/>
          </a:prstGeom>
        </p:spPr>
      </p:pic>
      <p:pic>
        <p:nvPicPr>
          <p:cNvPr id="6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9">
            <a:alphaModFix amt="100000"/>
          </a:blip>
          <a:stretch/>
        </p:blipFill>
        <p:spPr>
          <a:xfrm>
            <a:off x="12014168" y="6096000"/>
            <a:ext cx="5358706" cy="1613445"/>
          </a:xfrm>
          <a:prstGeom prst="rect">
            <a:avLst/>
          </a:prstGeom>
        </p:spPr>
      </p:pic>
      <p:sp>
        <p:nvSpPr>
          <p:cNvPr id="624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42768" y="6324600"/>
            <a:ext cx="41386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Automated query guardrails to enforce safe analytics and compliance readiness</a:t>
            </a:r>
          </a:p>
        </p:txBody>
      </p:sp>
      <p:pic>
        <p:nvPicPr>
          <p:cNvPr id="626" name="icon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2">
            <a:alphaModFix amt="100000"/>
            <a:extLst>
              <a:ext uri="{8FB3E588-689C-4303-9DE6-82ECD54E147D}">
                <asvg:svgBlip xmlns:r="http://schemas.openxmlformats.org/officeDocument/2006/relationships" xmlns:asvg="http://schemas.microsoft.com/office/drawing/2016/SVG/main" r:embed="rId23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6504825" y="6324600"/>
            <a:ext cx="640080" cy="640080"/>
          </a:xfrm>
          <a:prstGeom prst="rect">
            <a:avLst/>
          </a:prstGeom>
        </p:spPr>
      </p:pic>
      <p:sp>
        <p:nvSpPr>
          <p:cNvPr id="62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Enterprise-Grade Security and Compliance</a:t>
            </a:r>
          </a:p>
        </p:txBody>
      </p:sp>
      <p:sp>
        <p:nvSpPr>
          <p:cNvPr id="63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Comprehensive controls and certifications to protect sensitive data in regulated environments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8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6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0">
            <a:alphaModFix amt="7000"/>
          </a:blip>
          <a:stretch/>
        </p:blipFill>
        <p:spPr>
          <a:xfrm>
            <a:off x="16764448" y="2600325"/>
            <a:ext cx="1523553" cy="762000"/>
          </a:xfrm>
          <a:prstGeom prst="rect">
            <a:avLst/>
          </a:prstGeom>
        </p:spPr>
      </p:pic>
      <p:pic>
        <p:nvPicPr>
          <p:cNvPr id="6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2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6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4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6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6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6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8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6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0">
            <a:alphaModFix amt="7000"/>
          </a:blip>
          <a:stretch/>
        </p:blipFill>
        <p:spPr>
          <a:xfrm>
            <a:off x="762572" y="2267140"/>
            <a:ext cx="762000" cy="762000"/>
          </a:xfrm>
          <a:prstGeom prst="rect">
            <a:avLst/>
          </a:prstGeom>
        </p:spPr>
      </p:pic>
      <p:pic>
        <p:nvPicPr>
          <p:cNvPr id="6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2">
            <a:alphaModFix amt="7000"/>
          </a:blip>
          <a:stretch/>
        </p:blipFill>
        <p:spPr>
          <a:xfrm>
            <a:off x="1523238" y="742664"/>
            <a:ext cx="762000" cy="1524000"/>
          </a:xfrm>
          <a:prstGeom prst="rect">
            <a:avLst/>
          </a:prstGeom>
        </p:spPr>
      </p:pic>
      <p:pic>
        <p:nvPicPr>
          <p:cNvPr id="651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4">
            <a:alphaModFix amt="100000"/>
          </a:blip>
          <a:stretch/>
        </p:blipFill>
        <p:spPr>
          <a:xfrm>
            <a:off x="914400" y="2628900"/>
            <a:ext cx="16459200" cy="6743700"/>
          </a:xfrm>
          <a:prstGeom prst="rect">
            <a:avLst/>
          </a:prstGeom>
        </p:spPr>
      </p:pic>
      <p:sp>
        <p:nvSpPr>
          <p:cNvPr id="65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950720" y="3032188"/>
            <a:ext cx="363378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Discovery</a:t>
            </a:r>
          </a:p>
        </p:txBody>
      </p:sp>
      <p:sp>
        <p:nvSpPr>
          <p:cNvPr id="65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950720" y="3546538"/>
            <a:ext cx="363378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Analyze schemas and map use cases; define success criteria. Benefit: faster, targeted rollout.</a:t>
            </a:r>
          </a:p>
        </p:txBody>
      </p:sp>
      <p:sp>
        <p:nvSpPr>
          <p:cNvPr id="65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547360" y="7294721"/>
            <a:ext cx="363378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Configuration</a:t>
            </a:r>
          </a:p>
        </p:txBody>
      </p:sp>
      <p:sp>
        <p:nvSpPr>
          <p:cNvPr id="65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547360" y="7809071"/>
            <a:ext cx="363378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Connect databases, set read-only access and access controls. Benefit: zero disruption to production.</a:t>
            </a:r>
          </a:p>
        </p:txBody>
      </p:sp>
      <p:sp>
        <p:nvSpPr>
          <p:cNvPr id="65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0" y="2866454"/>
            <a:ext cx="363378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Pilot</a:t>
            </a:r>
          </a:p>
        </p:txBody>
      </p:sp>
      <p:sp>
        <p:nvSpPr>
          <p:cNvPr id="65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0" y="3380804"/>
            <a:ext cx="363378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Test with power users, refine prompts and UX; collect feedback. Benefit: rapid adoption and system learning.</a:t>
            </a:r>
          </a:p>
        </p:txBody>
      </p:sp>
      <p:sp>
        <p:nvSpPr>
          <p:cNvPr id="65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40640" y="7460456"/>
            <a:ext cx="363378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Go Live</a:t>
            </a:r>
          </a:p>
        </p:txBody>
      </p:sp>
      <p:sp>
        <p:nvSpPr>
          <p:cNvPr id="65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40640" y="7974806"/>
            <a:ext cx="363378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Full rollout with training, dedicated team and 24/7 support. Benefit: sustained value delivery.</a:t>
            </a:r>
          </a:p>
        </p:txBody>
      </p:sp>
      <p:sp>
        <p:nvSpPr>
          <p:cNvPr id="66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Fast Time-to-Value: Accelerated Deployment</a:t>
            </a:r>
          </a:p>
        </p:txBody>
      </p:sp>
      <p:sp>
        <p:nvSpPr>
          <p:cNvPr id="66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Deploy DataSpeak in eight weeks with zero disruption and continuous learning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6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0">
            <a:alphaModFix amt="100000"/>
          </a:blip>
          <a:stretch/>
        </p:blipFill>
        <p:spPr>
          <a:xfrm>
            <a:off x="6610350" y="0"/>
            <a:ext cx="476250" cy="6789390"/>
          </a:xfrm>
          <a:prstGeom prst="rect">
            <a:avLst/>
          </a:prstGeom>
        </p:spPr>
      </p:pic>
      <p:pic>
        <p:nvPicPr>
          <p:cNvPr id="66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2">
            <a:alphaModFix amt="100000"/>
          </a:blip>
          <a:stretch/>
        </p:blipFill>
        <p:spPr>
          <a:xfrm>
            <a:off x="6610350" y="7830502"/>
            <a:ext cx="476250" cy="2456408"/>
          </a:xfrm>
          <a:prstGeom prst="rect">
            <a:avLst/>
          </a:prstGeom>
        </p:spPr>
      </p:pic>
      <p:pic>
        <p:nvPicPr>
          <p:cNvPr id="6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4">
            <a:alphaModFix amt="100000"/>
          </a:blip>
          <a:stretch/>
        </p:blipFill>
        <p:spPr>
          <a:xfrm>
            <a:off x="8077200" y="914400"/>
            <a:ext cx="4648200" cy="8458200"/>
          </a:xfrm>
          <a:prstGeom prst="rect">
            <a:avLst/>
          </a:prstGeom>
        </p:spPr>
      </p:pic>
      <p:sp>
        <p:nvSpPr>
          <p:cNvPr id="67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686800" y="2405062"/>
            <a:ext cx="34623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DataSpeak (Built for Enterprise)</a:t>
            </a:r>
          </a:p>
        </p:txBody>
      </p:sp>
      <p:sp>
        <p:nvSpPr>
          <p:cNvPr id="67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52535" y="3243262"/>
            <a:ext cx="329660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Understands business-specific terms</a:t>
            </a:r>
            <a:r>
              <a:rPr lang="en-US" sz="1800" spc="-9" dirty="0">
                <a:solidFill>
                  <a:srgbClr val="FFFFFF"/>
                </a:solidFill>
                <a:latin typeface="Roboto" panose="00000700000000000000" pitchFamily="2" charset="0"/>
              </a:rPr>
              <a:t> and learns user query patterns</a:t>
            </a:r>
          </a:p>
        </p:txBody>
      </p:sp>
      <p:pic>
        <p:nvPicPr>
          <p:cNvPr id="67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6">
            <a:alphaModFix amt="100000"/>
          </a:blip>
          <a:stretch/>
        </p:blipFill>
        <p:spPr>
          <a:xfrm>
            <a:off x="8686800" y="3375850"/>
            <a:ext cx="66080" cy="66080"/>
          </a:xfrm>
          <a:prstGeom prst="rect">
            <a:avLst/>
          </a:prstGeom>
        </p:spPr>
      </p:pic>
      <p:sp>
        <p:nvSpPr>
          <p:cNvPr id="67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52535" y="4237672"/>
            <a:ext cx="329660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Role- and row-level security</a:t>
            </a:r>
            <a:r>
              <a:rPr lang="en-US" sz="1800" spc="-9" dirty="0">
                <a:solidFill>
                  <a:srgbClr val="FFFFFF"/>
                </a:solidFill>
                <a:latin typeface="Roboto" panose="00000700000000000000" pitchFamily="2" charset="0"/>
              </a:rPr>
              <a:t>; keeps data within organizational boundaries</a:t>
            </a:r>
          </a:p>
        </p:txBody>
      </p:sp>
      <p:pic>
        <p:nvPicPr>
          <p:cNvPr id="68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8">
            <a:alphaModFix amt="100000"/>
          </a:blip>
          <a:stretch/>
        </p:blipFill>
        <p:spPr>
          <a:xfrm>
            <a:off x="8686800" y="4370260"/>
            <a:ext cx="66080" cy="66080"/>
          </a:xfrm>
          <a:prstGeom prst="rect">
            <a:avLst/>
          </a:prstGeom>
        </p:spPr>
      </p:pic>
      <p:sp>
        <p:nvSpPr>
          <p:cNvPr id="68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52535" y="5232082"/>
            <a:ext cx="329660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Sub-second query response times</a:t>
            </a:r>
            <a:r>
              <a:rPr lang="en-US" sz="1800" spc="-9" dirty="0">
                <a:solidFill>
                  <a:srgbClr val="FFFFFF"/>
                </a:solidFill>
                <a:latin typeface="Roboto" panose="00000700000000000000" pitchFamily="2" charset="0"/>
              </a:rPr>
              <a:t> with enterprise-grade SLAs</a:t>
            </a:r>
          </a:p>
        </p:txBody>
      </p:sp>
      <p:pic>
        <p:nvPicPr>
          <p:cNvPr id="68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0">
            <a:alphaModFix amt="100000"/>
          </a:blip>
          <a:stretch/>
        </p:blipFill>
        <p:spPr>
          <a:xfrm>
            <a:off x="8686800" y="5364670"/>
            <a:ext cx="66080" cy="66080"/>
          </a:xfrm>
          <a:prstGeom prst="rect">
            <a:avLst/>
          </a:prstGeom>
        </p:spPr>
      </p:pic>
      <p:sp>
        <p:nvSpPr>
          <p:cNvPr id="68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52535" y="6226492"/>
            <a:ext cx="329660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Dedicated enterprise support; trusted by </a:t>
            </a:r>
            <a:r>
              <a:rPr lang="en-US" sz="1800" b="1" spc="-9" dirty="0">
                <a:solidFill>
                  <a:srgbClr val="FFFFFF"/>
                </a:solidFill>
                <a:latin typeface="Roboto" panose="00000700000000000000" pitchFamily="2" charset="0"/>
              </a:rPr>
              <a:t>Fortune 500</a:t>
            </a:r>
            <a:r>
              <a:rPr lang="en-US" sz="1800" spc="-9" dirty="0">
                <a:solidFill>
                  <a:srgbClr val="FFFFFF"/>
                </a:solidFill>
                <a:latin typeface="Roboto" panose="00000700000000000000" pitchFamily="2" charset="0"/>
              </a:rPr>
              <a:t> companies</a:t>
            </a:r>
          </a:p>
        </p:txBody>
      </p:sp>
      <p:pic>
        <p:nvPicPr>
          <p:cNvPr id="68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2">
            <a:alphaModFix amt="100000"/>
          </a:blip>
          <a:stretch/>
        </p:blipFill>
        <p:spPr>
          <a:xfrm>
            <a:off x="8686800" y="6359080"/>
            <a:ext cx="66080" cy="66080"/>
          </a:xfrm>
          <a:prstGeom prst="rect">
            <a:avLst/>
          </a:prstGeom>
        </p:spPr>
      </p:pic>
      <p:sp>
        <p:nvSpPr>
          <p:cNvPr id="69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52535" y="7220902"/>
            <a:ext cx="329660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Secure, compliant, and tailored for complex environments</a:t>
            </a:r>
          </a:p>
        </p:txBody>
      </p:sp>
      <p:pic>
        <p:nvPicPr>
          <p:cNvPr id="69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4">
            <a:alphaModFix amt="100000"/>
          </a:blip>
          <a:stretch/>
        </p:blipFill>
        <p:spPr>
          <a:xfrm>
            <a:off x="8686800" y="7353490"/>
            <a:ext cx="66080" cy="66080"/>
          </a:xfrm>
          <a:prstGeom prst="rect">
            <a:avLst/>
          </a:prstGeom>
        </p:spPr>
      </p:pic>
      <p:pic>
        <p:nvPicPr>
          <p:cNvPr id="6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6">
            <a:alphaModFix amt="100000"/>
          </a:blip>
          <a:stretch/>
        </p:blipFill>
        <p:spPr>
          <a:xfrm>
            <a:off x="12725400" y="914400"/>
            <a:ext cx="4648200" cy="8458200"/>
          </a:xfrm>
          <a:prstGeom prst="rect">
            <a:avLst/>
          </a:prstGeom>
        </p:spPr>
      </p:pic>
      <p:sp>
        <p:nvSpPr>
          <p:cNvPr id="69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335000" y="2405062"/>
            <a:ext cx="34623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Generic AI Tools (Adapted for Data)</a:t>
            </a:r>
          </a:p>
        </p:txBody>
      </p:sp>
      <p:sp>
        <p:nvSpPr>
          <p:cNvPr id="69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500735" y="3243262"/>
            <a:ext cx="329660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Designed for general use; limited business terminology awareness</a:t>
            </a:r>
          </a:p>
        </p:txBody>
      </p:sp>
      <p:pic>
        <p:nvPicPr>
          <p:cNvPr id="70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8">
            <a:alphaModFix amt="100000"/>
          </a:blip>
          <a:stretch/>
        </p:blipFill>
        <p:spPr>
          <a:xfrm>
            <a:off x="13335000" y="3375850"/>
            <a:ext cx="66080" cy="66080"/>
          </a:xfrm>
          <a:prstGeom prst="rect">
            <a:avLst/>
          </a:prstGeom>
        </p:spPr>
      </p:pic>
      <p:sp>
        <p:nvSpPr>
          <p:cNvPr id="70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500735" y="4237672"/>
            <a:ext cx="329660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Often lacks native role/row-level enforcement</a:t>
            </a:r>
          </a:p>
        </p:txBody>
      </p:sp>
      <p:pic>
        <p:nvPicPr>
          <p:cNvPr id="70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0">
            <a:alphaModFix amt="100000"/>
          </a:blip>
          <a:stretch/>
        </p:blipFill>
        <p:spPr>
          <a:xfrm>
            <a:off x="13335000" y="4370260"/>
            <a:ext cx="66080" cy="66080"/>
          </a:xfrm>
          <a:prstGeom prst="rect">
            <a:avLst/>
          </a:prstGeom>
        </p:spPr>
      </p:pic>
      <p:sp>
        <p:nvSpPr>
          <p:cNvPr id="70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500735" y="4900612"/>
            <a:ext cx="329660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Variable performance; not optimized for sub-second responses</a:t>
            </a:r>
          </a:p>
        </p:txBody>
      </p:sp>
      <p:pic>
        <p:nvPicPr>
          <p:cNvPr id="70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2">
            <a:alphaModFix amt="100000"/>
          </a:blip>
          <a:stretch/>
        </p:blipFill>
        <p:spPr>
          <a:xfrm>
            <a:off x="13335000" y="5033200"/>
            <a:ext cx="66080" cy="66080"/>
          </a:xfrm>
          <a:prstGeom prst="rect">
            <a:avLst/>
          </a:prstGeom>
        </p:spPr>
      </p:pic>
      <p:sp>
        <p:nvSpPr>
          <p:cNvPr id="71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500735" y="5895022"/>
            <a:ext cx="329660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Standard support models; SLAs not always enterprise-grade</a:t>
            </a:r>
          </a:p>
        </p:txBody>
      </p:sp>
      <p:pic>
        <p:nvPicPr>
          <p:cNvPr id="71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4">
            <a:alphaModFix amt="100000"/>
          </a:blip>
          <a:stretch/>
        </p:blipFill>
        <p:spPr>
          <a:xfrm>
            <a:off x="13335000" y="6027610"/>
            <a:ext cx="66080" cy="66080"/>
          </a:xfrm>
          <a:prstGeom prst="rect">
            <a:avLst/>
          </a:prstGeom>
        </p:spPr>
      </p:pic>
      <p:sp>
        <p:nvSpPr>
          <p:cNvPr id="71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500735" y="6557962"/>
            <a:ext cx="329660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Higher risk of data egress or boundary gaps in complex environments</a:t>
            </a:r>
          </a:p>
        </p:txBody>
      </p:sp>
      <p:pic>
        <p:nvPicPr>
          <p:cNvPr id="71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6">
            <a:alphaModFix amt="100000"/>
          </a:blip>
          <a:stretch/>
        </p:blipFill>
        <p:spPr>
          <a:xfrm>
            <a:off x="13335000" y="6690550"/>
            <a:ext cx="66080" cy="66080"/>
          </a:xfrm>
          <a:prstGeom prst="rect">
            <a:avLst/>
          </a:prstGeom>
        </p:spPr>
      </p:pic>
      <p:sp>
        <p:nvSpPr>
          <p:cNvPr id="71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3628454"/>
            <a:ext cx="5253038" cy="2200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Why DataSpeak? Clear Competitive Advantage</a:t>
            </a:r>
          </a:p>
        </p:txBody>
      </p:sp>
      <p:sp>
        <p:nvSpPr>
          <p:cNvPr id="72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5943600"/>
            <a:ext cx="52530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Secure, fast, business-aware data access built for enterprise scale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0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2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2">
            <a:alphaModFix amt="100000"/>
          </a:blip>
          <a:stretch/>
        </p:blipFill>
        <p:spPr>
          <a:xfrm>
            <a:off x="6610350" y="0"/>
            <a:ext cx="476250" cy="6789390"/>
          </a:xfrm>
          <a:prstGeom prst="rect">
            <a:avLst/>
          </a:prstGeom>
        </p:spPr>
      </p:pic>
      <p:pic>
        <p:nvPicPr>
          <p:cNvPr id="72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4">
            <a:alphaModFix amt="100000"/>
          </a:blip>
          <a:stretch/>
        </p:blipFill>
        <p:spPr>
          <a:xfrm>
            <a:off x="6610350" y="7830502"/>
            <a:ext cx="476250" cy="2456408"/>
          </a:xfrm>
          <a:prstGeom prst="rect">
            <a:avLst/>
          </a:prstGeom>
        </p:spPr>
      </p:pic>
      <p:pic>
        <p:nvPicPr>
          <p:cNvPr id="7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6">
            <a:alphaModFix amt="100000"/>
          </a:blip>
          <a:stretch/>
        </p:blipFill>
        <p:spPr>
          <a:xfrm>
            <a:off x="8077200" y="7679055"/>
            <a:ext cx="9296400" cy="1695450"/>
          </a:xfrm>
          <a:prstGeom prst="rect">
            <a:avLst/>
          </a:prstGeom>
        </p:spPr>
      </p:pic>
      <p:sp>
        <p:nvSpPr>
          <p:cNvPr id="731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80353" y="8361045"/>
            <a:ext cx="72342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Outcome: </a:t>
            </a:r>
            <a:r>
              <a:rPr lang="en-US" sz="1800" b="1" spc="-9" dirty="0">
                <a:solidFill>
                  <a:srgbClr val="000000"/>
                </a:solidFill>
                <a:latin typeface="Roboto" panose="00000700000000000000" pitchFamily="2" charset="0"/>
              </a:rPr>
              <a:t>Ask Questions. Get Answers. Drive Decisions.</a:t>
            </a:r>
          </a:p>
        </p:txBody>
      </p:sp>
      <p:pic>
        <p:nvPicPr>
          <p:cNvPr id="732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9">
            <a:alphaModFix amt="100000"/>
            <a:extLst>
              <a:ext uri="{40BB9D4F-7E6A-4924-B9A9-8C452DBF92AD}">
                <asvg:svgBlip xmlns:r="http://schemas.openxmlformats.org/officeDocument/2006/relationships" xmlns:asvg="http://schemas.microsoft.com/office/drawing/2016/SVG/main" r:embed="rId29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572500" y="8106156"/>
            <a:ext cx="841153" cy="841153"/>
          </a:xfrm>
          <a:prstGeom prst="rect">
            <a:avLst/>
          </a:prstGeom>
        </p:spPr>
      </p:pic>
      <p:pic>
        <p:nvPicPr>
          <p:cNvPr id="7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1">
            <a:alphaModFix amt="100000"/>
          </a:blip>
          <a:stretch/>
        </p:blipFill>
        <p:spPr>
          <a:xfrm>
            <a:off x="8077200" y="5987415"/>
            <a:ext cx="9296400" cy="1695450"/>
          </a:xfrm>
          <a:prstGeom prst="rect">
            <a:avLst/>
          </a:prstGeom>
        </p:spPr>
      </p:pic>
      <p:sp>
        <p:nvSpPr>
          <p:cNvPr id="735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80353" y="6669405"/>
            <a:ext cx="72342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Contact: </a:t>
            </a:r>
            <a:r>
              <a:rPr lang="en-US" sz="1800" b="1" spc="-9" dirty="0">
                <a:solidFill>
                  <a:srgbClr val="000000"/>
                </a:solidFill>
                <a:latin typeface="Roboto" panose="00000700000000000000" pitchFamily="2" charset="0"/>
              </a:rPr>
              <a:t>enterprise@dataspeak.ai</a:t>
            </a:r>
            <a:r>
              <a:rPr lang="en-US" sz="1800" spc="-9" dirty="0">
                <a:solidFill>
                  <a:srgbClr val="000000"/>
                </a:solidFill>
                <a:latin typeface="Roboto" panose="00000700000000000000" pitchFamily="2" charset="0"/>
              </a:rPr>
              <a:t> To Request Engagement</a:t>
            </a:r>
          </a:p>
        </p:txBody>
      </p:sp>
      <p:pic>
        <p:nvPicPr>
          <p:cNvPr id="736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4">
            <a:alphaModFix amt="100000"/>
            <a:extLst>
              <a:ext uri="{85880ABC-BB21-48E9-BB9D-4BB6D9AD1DFF}">
                <asvg:svgBlip xmlns:r="http://schemas.openxmlformats.org/officeDocument/2006/relationships" xmlns:asvg="http://schemas.microsoft.com/office/drawing/2016/SVG/main" r:embed="rId303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572500" y="6414516"/>
            <a:ext cx="841153" cy="841153"/>
          </a:xfrm>
          <a:prstGeom prst="rect">
            <a:avLst/>
          </a:prstGeom>
        </p:spPr>
      </p:pic>
      <p:pic>
        <p:nvPicPr>
          <p:cNvPr id="7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6">
            <a:alphaModFix amt="100000"/>
          </a:blip>
          <a:stretch/>
        </p:blipFill>
        <p:spPr>
          <a:xfrm>
            <a:off x="12439650" y="7530465"/>
            <a:ext cx="571500" cy="314325"/>
          </a:xfrm>
          <a:prstGeom prst="rect">
            <a:avLst/>
          </a:prstGeom>
        </p:spPr>
      </p:pic>
      <p:pic>
        <p:nvPicPr>
          <p:cNvPr id="7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8">
            <a:alphaModFix amt="100000"/>
          </a:blip>
          <a:stretch/>
        </p:blipFill>
        <p:spPr>
          <a:xfrm>
            <a:off x="8077200" y="4295775"/>
            <a:ext cx="9296400" cy="1695450"/>
          </a:xfrm>
          <a:prstGeom prst="rect">
            <a:avLst/>
          </a:prstGeom>
        </p:spPr>
      </p:pic>
      <p:sp>
        <p:nvSpPr>
          <p:cNvPr id="740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80353" y="4812030"/>
            <a:ext cx="72342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Proof Options: </a:t>
            </a:r>
            <a:r>
              <a:rPr lang="en-US" sz="1800" b="1" spc="-9" dirty="0">
                <a:solidFill>
                  <a:srgbClr val="FFFFFF"/>
                </a:solidFill>
                <a:latin typeface="Roboto" panose="00000700000000000000" pitchFamily="2" charset="0"/>
              </a:rPr>
              <a:t>demo</a:t>
            </a:r>
            <a:r>
              <a:rPr lang="en-US" sz="1800" spc="-9" dirty="0">
                <a:solidFill>
                  <a:srgbClr val="FFFFFF"/>
                </a:solidFill>
                <a:latin typeface="Roboto" panose="00000700000000000000" pitchFamily="2" charset="0"/>
              </a:rPr>
              <a:t>, </a:t>
            </a:r>
            <a:r>
              <a:rPr lang="en-US" sz="1800" b="1" spc="-9" dirty="0">
                <a:solidFill>
                  <a:srgbClr val="FFFFFF"/>
                </a:solidFill>
                <a:latin typeface="Roboto" panose="00000700000000000000" pitchFamily="2" charset="0"/>
              </a:rPr>
              <a:t>pilot</a:t>
            </a:r>
            <a:r>
              <a:rPr lang="en-US" sz="1800" spc="-9" dirty="0">
                <a:solidFill>
                  <a:srgbClr val="FFFFFF"/>
                </a:solidFill>
                <a:latin typeface="Roboto" panose="00000700000000000000" pitchFamily="2" charset="0"/>
              </a:rPr>
              <a:t>, Or </a:t>
            </a:r>
            <a:r>
              <a:rPr lang="en-US" sz="1800" b="1" spc="-9" dirty="0">
                <a:solidFill>
                  <a:srgbClr val="FFFFFF"/>
                </a:solidFill>
                <a:latin typeface="Roboto" panose="00000700000000000000" pitchFamily="2" charset="0"/>
              </a:rPr>
              <a:t>4-week Proof Of Value</a:t>
            </a:r>
            <a:r>
              <a:rPr lang="en-US" sz="1800" spc="-9" dirty="0">
                <a:solidFill>
                  <a:srgbClr val="FFFFFF"/>
                </a:solidFill>
                <a:latin typeface="Roboto" panose="00000700000000000000" pitchFamily="2" charset="0"/>
              </a:rPr>
              <a:t> With Measurable Business Impact</a:t>
            </a:r>
          </a:p>
        </p:txBody>
      </p:sp>
      <p:pic>
        <p:nvPicPr>
          <p:cNvPr id="741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0">
            <a:alphaModFix amt="100000"/>
          </a:blip>
          <a:stretch/>
        </p:blipFill>
        <p:spPr>
          <a:xfrm>
            <a:off x="8572500" y="4722876"/>
            <a:ext cx="841153" cy="841153"/>
          </a:xfrm>
          <a:prstGeom prst="rect">
            <a:avLst/>
          </a:prstGeom>
        </p:spPr>
      </p:pic>
      <p:pic>
        <p:nvPicPr>
          <p:cNvPr id="7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2">
            <a:alphaModFix amt="100000"/>
          </a:blip>
          <a:stretch/>
        </p:blipFill>
        <p:spPr>
          <a:xfrm>
            <a:off x="12439650" y="5838825"/>
            <a:ext cx="571500" cy="314325"/>
          </a:xfrm>
          <a:prstGeom prst="rect">
            <a:avLst/>
          </a:prstGeom>
        </p:spPr>
      </p:pic>
      <p:pic>
        <p:nvPicPr>
          <p:cNvPr id="7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4">
            <a:alphaModFix amt="100000"/>
          </a:blip>
          <a:stretch/>
        </p:blipFill>
        <p:spPr>
          <a:xfrm>
            <a:off x="8077200" y="2604135"/>
            <a:ext cx="9296400" cy="1695450"/>
          </a:xfrm>
          <a:prstGeom prst="rect">
            <a:avLst/>
          </a:prstGeom>
        </p:spPr>
      </p:pic>
      <p:sp>
        <p:nvSpPr>
          <p:cNvPr id="74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80353" y="3120390"/>
            <a:ext cx="72342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Empower Teams — Reduce Wait From </a:t>
            </a:r>
            <a:r>
              <a:rPr lang="en-US" sz="1800" b="1" spc="-9" dirty="0">
                <a:solidFill>
                  <a:srgbClr val="FFFFFF"/>
                </a:solidFill>
                <a:latin typeface="Roboto" panose="00000700000000000000" pitchFamily="2" charset="0"/>
              </a:rPr>
              <a:t>3-5 Days</a:t>
            </a:r>
            <a:r>
              <a:rPr lang="en-US" sz="1800" spc="-9" dirty="0">
                <a:solidFill>
                  <a:srgbClr val="FFFFFF"/>
                </a:solidFill>
                <a:latin typeface="Roboto" panose="00000700000000000000" pitchFamily="2" charset="0"/>
              </a:rPr>
              <a:t> To Near Real-time Access</a:t>
            </a:r>
          </a:p>
        </p:txBody>
      </p:sp>
      <p:pic>
        <p:nvPicPr>
          <p:cNvPr id="746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7">
            <a:alphaModFix amt="100000"/>
            <a:extLst>
              <a:ext uri="{F2741951-10CD-41D1-8C08-8280854B51E8}">
                <asvg:svgBlip xmlns:r="http://schemas.openxmlformats.org/officeDocument/2006/relationships" xmlns:asvg="http://schemas.microsoft.com/office/drawing/2016/SVG/main" r:embed="rId31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572500" y="3031236"/>
            <a:ext cx="841153" cy="841153"/>
          </a:xfrm>
          <a:prstGeom prst="rect">
            <a:avLst/>
          </a:prstGeom>
        </p:spPr>
      </p:pic>
      <p:pic>
        <p:nvPicPr>
          <p:cNvPr id="7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9">
            <a:alphaModFix amt="100000"/>
          </a:blip>
          <a:stretch/>
        </p:blipFill>
        <p:spPr>
          <a:xfrm>
            <a:off x="12439650" y="4147185"/>
            <a:ext cx="571500" cy="314325"/>
          </a:xfrm>
          <a:prstGeom prst="rect">
            <a:avLst/>
          </a:prstGeom>
        </p:spPr>
      </p:pic>
      <p:pic>
        <p:nvPicPr>
          <p:cNvPr id="7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1">
            <a:alphaModFix amt="100000"/>
          </a:blip>
          <a:stretch/>
        </p:blipFill>
        <p:spPr>
          <a:xfrm>
            <a:off x="8077200" y="912495"/>
            <a:ext cx="9296400" cy="1695450"/>
          </a:xfrm>
          <a:prstGeom prst="rect">
            <a:avLst/>
          </a:prstGeom>
        </p:spPr>
      </p:pic>
      <p:sp>
        <p:nvSpPr>
          <p:cNvPr id="75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80353" y="1428750"/>
            <a:ext cx="72342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Accelerate Decisions With </a:t>
            </a:r>
            <a:r>
              <a:rPr lang="en-US" sz="1800" b="1" spc="-9" dirty="0">
                <a:solidFill>
                  <a:srgbClr val="FFFFFF"/>
                </a:solidFill>
                <a:latin typeface="Roboto" panose="00000700000000000000" pitchFamily="2" charset="0"/>
              </a:rPr>
              <a:t>immediate Data Insights</a:t>
            </a:r>
            <a:r>
              <a:rPr lang="en-US" sz="1800" spc="-9" dirty="0">
                <a:solidFill>
                  <a:srgbClr val="FFFFFF"/>
                </a:solidFill>
                <a:latin typeface="Roboto" panose="00000700000000000000" pitchFamily="2" charset="0"/>
              </a:rPr>
              <a:t> — No SQL, No IT Tickets</a:t>
            </a:r>
          </a:p>
        </p:txBody>
      </p:sp>
      <p:pic>
        <p:nvPicPr>
          <p:cNvPr id="751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4">
            <a:alphaModFix amt="100000"/>
            <a:extLst>
              <a:ext uri="{73B5D7D6-44FC-4952-AE99-9B4CF49F77A7}">
                <asvg:svgBlip xmlns:r="http://schemas.openxmlformats.org/officeDocument/2006/relationships" xmlns:asvg="http://schemas.microsoft.com/office/drawing/2016/SVG/main" r:embed="rId323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572500" y="1339596"/>
            <a:ext cx="841153" cy="841153"/>
          </a:xfrm>
          <a:prstGeom prst="rect">
            <a:avLst/>
          </a:prstGeom>
        </p:spPr>
      </p:pic>
      <p:pic>
        <p:nvPicPr>
          <p:cNvPr id="7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6">
            <a:alphaModFix amt="100000"/>
          </a:blip>
          <a:stretch/>
        </p:blipFill>
        <p:spPr>
          <a:xfrm>
            <a:off x="12439650" y="2455545"/>
            <a:ext cx="571500" cy="314325"/>
          </a:xfrm>
          <a:prstGeom prst="rect">
            <a:avLst/>
          </a:prstGeom>
        </p:spPr>
      </p:pic>
      <p:sp>
        <p:nvSpPr>
          <p:cNvPr id="75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4000500"/>
            <a:ext cx="5253038" cy="1476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Ready to Transform Your Data Access?</a:t>
            </a:r>
          </a:p>
        </p:txBody>
      </p:sp>
      <p:sp>
        <p:nvSpPr>
          <p:cNvPr id="75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5562600"/>
            <a:ext cx="52530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Request a demo, start a pilot, or join a 4-week proof of value to see measurable impact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Exporter Version: 2.6.0.0, docId: 24468153, orderId: 10053007</dc:title>
  <dc:creator>Presentations.AI Exporter</dc:creator>
  <lastModifiedBy>Presentations.AI Exporter</lastModifiedBy>
  <revision>1</revision>
  <dcterms:created xsi:type="dcterms:W3CDTF">2025-11-25T21:03:48.0000000Z</dcterms:created>
  <dcterms:modified xsi:type="dcterms:W3CDTF">2025-11-25T21:03:48.0000000Z</dcterms:modified>
</coreProperties>
</file>